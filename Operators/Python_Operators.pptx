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140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37744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0000"/>
                </a:solidFill>
              </a:rPr>
              <a:t>⚙️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operations on values — arithmetic, comparison,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logical, assignment, identity, membership &amp; bitwise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47872"/>
            <a:ext cx="47548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502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896112"/>
            <a:ext cx="257860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896112"/>
            <a:ext cx="45720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9326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55664" y="1133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− * / % ** //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1463040"/>
            <a:ext cx="257860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463040"/>
            <a:ext cx="45720" cy="475488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499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55664" y="1700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+= -= *= /= 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55080" y="2029968"/>
            <a:ext cx="257860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029968"/>
            <a:ext cx="45720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0665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55664" y="2267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!= &gt; &lt; &gt;= &lt;=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2596896"/>
            <a:ext cx="257860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2596896"/>
            <a:ext cx="45720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633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55664" y="2834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or  not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3163824"/>
            <a:ext cx="257860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3163824"/>
            <a:ext cx="45720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32004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55664" y="3401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 is not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3730752"/>
            <a:ext cx="257860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730752"/>
            <a:ext cx="45720" cy="4754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55664" y="3968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 not in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55080" y="4297680"/>
            <a:ext cx="2578608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297680"/>
            <a:ext cx="45720" cy="4754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43342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55664" y="4535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| ^ ~ &lt;&lt; &gt;&gt;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github.com/reachsatyavs/python-tutorials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217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Arithmetic Operators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Operators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2011680" cy="2560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49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042416"/>
            <a:ext cx="493776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0424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9808" y="1042416"/>
            <a:ext cx="13716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042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21408" y="1042416"/>
            <a:ext cx="201168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1042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33088" y="1042416"/>
            <a:ext cx="118872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1042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1335024"/>
            <a:ext cx="50840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3716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248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12848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24528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1737360"/>
            <a:ext cx="50840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77393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1248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12848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24528" y="1773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2139696"/>
            <a:ext cx="50840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17627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12848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*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24528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30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2542032"/>
            <a:ext cx="50840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5786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1248" y="2578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12848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24528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3.333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2944368"/>
            <a:ext cx="50840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980944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1248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Modulus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212848" y="2980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 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24528" y="29809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3346704"/>
            <a:ext cx="50840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3832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41248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Exponentiation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212848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** 8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224528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256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3749040"/>
            <a:ext cx="50840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7856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41248" y="3785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division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212848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3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394960" y="749808"/>
            <a:ext cx="22860" cy="41605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749808"/>
            <a:ext cx="3291840" cy="2560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0" y="749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EXAMPLES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577840" y="106070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&amp; Subtraction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577840" y="1316736"/>
            <a:ext cx="331012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135331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17,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+ y)   # 22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- y)   # 12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77840" y="198065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types  (⚠️  / always returns float)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577840" y="2236684"/>
            <a:ext cx="331012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87568" y="227326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print(17 / 5)   # 3.4   ← true division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print(17 // 5)  # 3    ← floor (int)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print(17 % 5)   # 2    ← remainder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77840" y="3050500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Exponentiation  (right-to-left precedence)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577840" y="3306532"/>
            <a:ext cx="331012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87568" y="334310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** 10)  # 1024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print(9 ** 0.5) # 3.0  ← square root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577840" y="3932973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/ List  (+ and * work too)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577840" y="4256460"/>
            <a:ext cx="3310128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87568" y="4293036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print('py' + 'thon')   # python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print([1,2] + [3,4])   # [1,2,3,4]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print('ha' * 3)        # hahaha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21792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🟰  Assignment Operators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Operators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078224" cy="256032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4980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ASSIGNMENT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04241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assigns the right-hand value to the left-hand variable.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1335024"/>
            <a:ext cx="4078224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71600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95      #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= 'alice'  #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= [88, 72, 95]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901952"/>
            <a:ext cx="4078224" cy="256032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901952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ASSIGNMENT  (shorthand — modifies in place)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194560"/>
            <a:ext cx="5486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4672" y="2194560"/>
            <a:ext cx="1463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67712" y="2194560"/>
            <a:ext cx="1975104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21945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487168"/>
            <a:ext cx="3986784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5237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7824" y="2523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+= 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40864" y="252374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834640"/>
            <a:ext cx="3986784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8712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" y="2871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-= 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40864" y="287121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- 3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3182112"/>
            <a:ext cx="3986784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3218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77824" y="3218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*=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40864" y="321868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 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529584"/>
            <a:ext cx="3986784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566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/=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7824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/=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40864" y="3566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/ 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877056"/>
            <a:ext cx="3986784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3913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%=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7824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%= 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40864" y="39136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% 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4224528"/>
            <a:ext cx="3986784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4261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//=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77824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//= 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340864" y="426110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// 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572000"/>
            <a:ext cx="3986784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4608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**=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77824" y="4608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**= 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340864" y="460857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** 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462272" y="749808"/>
            <a:ext cx="22860" cy="41605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749808"/>
            <a:ext cx="4224528" cy="256032"/>
          </a:xfrm>
          <a:prstGeom prst="rect">
            <a:avLst/>
          </a:prstGeom>
          <a:solidFill>
            <a:srgbClr val="FDE047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74980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ASSIGNMENT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63440" y="1060704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multiple variables in one line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1316736"/>
            <a:ext cx="4224528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1353312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 = c =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print(a, b, c)   # 0 0 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63440" y="1830752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unpacking  (most common pattern)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2086784"/>
            <a:ext cx="4224528" cy="88419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73168" y="2123360"/>
            <a:ext cx="4041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z = 10, 20, 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print(x, y, z)   # 10 20 30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*rest = [1, 2, 3, 4, 5]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print(first)  #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print(rest)   # [2, 3, 4, 5]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663440" y="3005530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operator  :=  (Python 3.8+)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3299037"/>
            <a:ext cx="422452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73168" y="3335613"/>
            <a:ext cx="4041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 AND use in same expression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 := len(data)) &gt; 10: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print(f'List is long: {n} items')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63440" y="3985438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without temp variable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63440" y="4241470"/>
            <a:ext cx="422452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73168" y="4278046"/>
            <a:ext cx="4041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5, 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b, a   # Python idiom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print(a, b)   # 10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Comparison Operators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Operators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8631936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4980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TABLE  — always return True or False (bool)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042416"/>
            <a:ext cx="420624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0424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" y="1042416"/>
            <a:ext cx="19202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042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96896" y="1042416"/>
            <a:ext cx="1463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042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59936" y="1042416"/>
            <a:ext cx="65836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0424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18304" y="1042416"/>
            <a:ext cx="1463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042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81344" y="1042416"/>
            <a:ext cx="65836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0424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1335024"/>
            <a:ext cx="65836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37160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 to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51760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0" y="13716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== 'b'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6208" y="13716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1737360"/>
            <a:ext cx="6583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17739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" y="1773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equal to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51760" y="1773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17739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1773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36208" y="17739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2139696"/>
            <a:ext cx="65836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217627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1520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 than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51760" y="2176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&gt; 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0" y="21762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73168" y="2176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&gt; 9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36208" y="21762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2542032"/>
            <a:ext cx="6583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25786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1520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than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651760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&lt; 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0" y="25786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73168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&lt; 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36208" y="25786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6032" y="2944368"/>
            <a:ext cx="65836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" y="29809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1520" y="2980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 than or equal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651760" y="2980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&gt;= 5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114800" y="298094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773168" y="2980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&gt;= 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36208" y="298094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6032" y="3346704"/>
            <a:ext cx="6583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" y="33832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3152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than or equal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651760" y="3383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&lt;= 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114800" y="3383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73168" y="3383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&lt;= 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236208" y="3383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56032" y="3785616"/>
            <a:ext cx="8631936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6032" y="3858768"/>
            <a:ext cx="283464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6032" y="3858768"/>
            <a:ext cx="45720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38953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vs =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22960" y="416966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values.  = assigns.  Never confuse them.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00400" y="3858768"/>
            <a:ext cx="283464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00400" y="3858768"/>
            <a:ext cx="45720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10128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3767328" y="38953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767328" y="416966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allows chaining: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&lt; x &lt; 10  is valid!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144768" y="3858768"/>
            <a:ext cx="283464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44768" y="3858768"/>
            <a:ext cx="45720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54496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6711696" y="38953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type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711696" y="416966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str, list, tuple too: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'apple' &lt; 'banana'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217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Logical Operators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Operators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078224" cy="2560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4980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042416"/>
            <a:ext cx="4078224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042416"/>
            <a:ext cx="45720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1704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8992" y="113385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BOTH sides are True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" y="1444752"/>
            <a:ext cx="3145536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48132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&gt; 0 and x &lt; 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176272"/>
            <a:ext cx="4078224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176272"/>
            <a:ext cx="45720" cy="10241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3042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8992" y="22677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EITHER side is True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78992" y="2578608"/>
            <a:ext cx="3145536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61518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 0 or x &gt; 100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310128"/>
            <a:ext cx="4078224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310128"/>
            <a:ext cx="45720" cy="10241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4381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78992" y="340156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Inverts True → False (and vice versa)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78992" y="3712464"/>
            <a:ext cx="3145536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7490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(x == 5)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749808"/>
            <a:ext cx="22860" cy="41605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749808"/>
            <a:ext cx="4224528" cy="2560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74980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042416"/>
            <a:ext cx="422452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1078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32704" y="1078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47104" y="1078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and 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35824" y="10789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or 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426464"/>
            <a:ext cx="4224528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1463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32704" y="1463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47104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35824" y="14630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1810512"/>
            <a:ext cx="42245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32704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47104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35824" y="1847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2194560"/>
            <a:ext cx="4224528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32704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47104" y="2231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735824" y="223113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2578608"/>
            <a:ext cx="42245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18304" y="2615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32704" y="2615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547104" y="2615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735824" y="261518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3035808"/>
            <a:ext cx="4224528" cy="2926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03580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SHORT-CIRCUIT EVALUATION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3364992"/>
            <a:ext cx="4224528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73168" y="34015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and &lt;anything&gt;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773168" y="36210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stops at False — right side never evaluated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63440" y="3931920"/>
            <a:ext cx="4224528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73168" y="39684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&lt;anything&gt;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773168" y="4187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stops at True  — right side never evaluated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🆔  Identity  &amp;  📦  Membership Operators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Operators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078224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74980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OPERATORS  —  compare memory addresses (id)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04241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 /  is not  →  checks if two variables point to the SAME object in memory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389888"/>
            <a:ext cx="4078224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44752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[1, 2, 3]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is b)   # True  — same object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is c)   # False — equal but different object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== c)   # True  — values are equal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139696"/>
            <a:ext cx="407822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9456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copies the REFERENCE, not the list itself.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[1,2,3] creates a brand-new list object.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816352"/>
            <a:ext cx="4078224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71216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256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256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is y)   # True  — CPython caches -5 to 256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1000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is y)   # False — new objects above 256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566160"/>
            <a:ext cx="4078224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21024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caching: -5 to 256 are pre-created singletons.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 for value comparison, is only for None/True/False.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4352544"/>
            <a:ext cx="4078224" cy="438912"/>
          </a:xfrm>
          <a:prstGeom prst="rect">
            <a:avLst/>
          </a:prstGeom>
          <a:solidFill>
            <a:srgbClr val="180A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89120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practice:  use  is  only with  None, True,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  ==  for all other value comparisons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62272" y="749808"/>
            <a:ext cx="22860" cy="41605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749808"/>
            <a:ext cx="4224528" cy="2560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74980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OPERATORS  —  check if item exists in sequence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1042416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/  not in  →  tests presence in strings, lists, tuples, sets, dicts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140817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645920"/>
            <a:ext cx="4224528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682496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['apple','banana','cherry']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print('apple' in fruits)     # True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print('mango' not in fruits)  # True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663440" y="224942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(substring check)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487168"/>
            <a:ext cx="4224528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523744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'Hello, Python world!'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print('Python' in msg)   # True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print('Java' in msg)     # False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663440" y="3090672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  (checks KEYS only by default)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28416"/>
            <a:ext cx="4224528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364992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{'alice':92, 'bob':78}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print('alice' in scores)   # True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print(92 in scores)        # False ← not a key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print(92 in scores.values())  # True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663440" y="393192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 (fastest: O(1) via hashing)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169664"/>
            <a:ext cx="4224528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4206240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 = {2, 3, 5, 7, 11}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print(7 in primes)    # True  ← O(1)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print(4 in primes)    # False ← O(1)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977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3977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Bitwise Operators  &amp;  Operator Precedence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4980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835" y="489429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Operators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33547" y="539948"/>
            <a:ext cx="4078224" cy="2560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547" y="53994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OPERATORS  —  operate on individual bits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547" y="832556"/>
            <a:ext cx="420624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411" y="8325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4171" y="832556"/>
            <a:ext cx="109728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035" y="8325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51451" y="832556"/>
            <a:ext cx="10058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6315" y="8325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57291" y="832556"/>
            <a:ext cx="155448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2155" y="8325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3547" y="1125164"/>
            <a:ext cx="4078224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411" y="11434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9035" y="11434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06315" y="114345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&amp; 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12155" y="11434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if BOTH bits are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3547" y="1472636"/>
            <a:ext cx="4078224" cy="310896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411" y="14909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9035" y="14909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06315" y="14909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| 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12155" y="14909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if EITHER bit is 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3547" y="1820108"/>
            <a:ext cx="4078224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411" y="18383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9035" y="183839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06315" y="18383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^ 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12155" y="18383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if bits are DIFFERENT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3547" y="2167580"/>
            <a:ext cx="4078224" cy="310896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411" y="21858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9035" y="21858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06315" y="21858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12155" y="21858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Inverts all bits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3547" y="2515052"/>
            <a:ext cx="4078224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411" y="25333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9035" y="25333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shift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06315" y="25333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&lt;&lt; 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812155" y="25333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 by 2^n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3547" y="2862524"/>
            <a:ext cx="4078224" cy="310896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8411" y="28808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09035" y="288081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shift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806315" y="288081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&gt;&gt; 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12155" y="28808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 by 2^n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33547" y="3283148"/>
            <a:ext cx="4078224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3275" y="3338012"/>
            <a:ext cx="3895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12, 10   # 12 = 0b1100,  10 = 0b1010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&amp; b)   # 8   (0b1000 — both 1s)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   # 14  (0b1110 — either 1)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^ b)   # 6   (0b0110 — different)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&lt;&lt; 1)  # 24  (shift left  = × 2)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&gt;&gt; 1)  # 6   (shift right = ÷ 2)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4439787" y="539948"/>
            <a:ext cx="22860" cy="41605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40955" y="539948"/>
            <a:ext cx="4224528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40955" y="53994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  (highest → lowest)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40955" y="832556"/>
            <a:ext cx="4224528" cy="256032"/>
          </a:xfrm>
          <a:prstGeom prst="rect">
            <a:avLst/>
          </a:prstGeom>
          <a:solidFill>
            <a:srgbClr val="1A120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95819" y="8508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341739" y="85084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7548747" y="8508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always evaluated first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4640955" y="1111448"/>
            <a:ext cx="4224528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95819" y="112973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6341739" y="112973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Exponentiation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7548747" y="11297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right-to-left: 2**3**2 = 2**9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4640955" y="1390340"/>
            <a:ext cx="4224528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95819" y="14086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+x  -x  ~x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341739" y="140862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7548747" y="14086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sign, bitwise NOT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4640955" y="1669232"/>
            <a:ext cx="4224528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95819" y="168752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/  //  %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6341739" y="168752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 / Div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7548747" y="16875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4640955" y="1948124"/>
            <a:ext cx="4224528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95819" y="19664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6341739" y="196641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Sub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7548747" y="19664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4640955" y="2227016"/>
            <a:ext cx="4224528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95819" y="224530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 &gt;&gt;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6341739" y="22453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shifts</a:t>
            </a:r>
            <a:endParaRPr lang="en-US" sz="820" dirty="0"/>
          </a:p>
        </p:txBody>
      </p:sp>
      <p:sp>
        <p:nvSpPr>
          <p:cNvPr id="76" name="Text 74"/>
          <p:cNvSpPr/>
          <p:nvPr/>
        </p:nvSpPr>
        <p:spPr>
          <a:xfrm>
            <a:off x="7548747" y="22453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4640955" y="2505908"/>
            <a:ext cx="4224528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95819" y="25241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6341739" y="252419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AND</a:t>
            </a:r>
            <a:endParaRPr lang="en-US" sz="820" dirty="0"/>
          </a:p>
        </p:txBody>
      </p:sp>
      <p:sp>
        <p:nvSpPr>
          <p:cNvPr id="80" name="Text 78"/>
          <p:cNvSpPr/>
          <p:nvPr/>
        </p:nvSpPr>
        <p:spPr>
          <a:xfrm>
            <a:off x="7548747" y="25241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4640955" y="2784800"/>
            <a:ext cx="4224528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95819" y="280308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6341739" y="280308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XOR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7548747" y="28030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4640955" y="3063692"/>
            <a:ext cx="4224528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95819" y="308198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820" dirty="0"/>
          </a:p>
        </p:txBody>
      </p:sp>
      <p:sp>
        <p:nvSpPr>
          <p:cNvPr id="87" name="Text 85"/>
          <p:cNvSpPr/>
          <p:nvPr/>
        </p:nvSpPr>
        <p:spPr>
          <a:xfrm>
            <a:off x="6341739" y="308198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OR</a:t>
            </a:r>
            <a:endParaRPr lang="en-US" sz="820" dirty="0"/>
          </a:p>
        </p:txBody>
      </p:sp>
      <p:sp>
        <p:nvSpPr>
          <p:cNvPr id="88" name="Text 86"/>
          <p:cNvSpPr/>
          <p:nvPr/>
        </p:nvSpPr>
        <p:spPr>
          <a:xfrm>
            <a:off x="7548747" y="30819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4640955" y="3342584"/>
            <a:ext cx="4224528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95819" y="336087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!=  &gt;  &lt;  &gt;=  &lt;=</a:t>
            </a:r>
            <a:endParaRPr lang="en-US" sz="820" dirty="0"/>
          </a:p>
        </p:txBody>
      </p:sp>
      <p:sp>
        <p:nvSpPr>
          <p:cNvPr id="91" name="Text 89"/>
          <p:cNvSpPr/>
          <p:nvPr/>
        </p:nvSpPr>
        <p:spPr>
          <a:xfrm>
            <a:off x="6341739" y="336087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20" dirty="0"/>
          </a:p>
        </p:txBody>
      </p:sp>
      <p:sp>
        <p:nvSpPr>
          <p:cNvPr id="92" name="Text 90"/>
          <p:cNvSpPr/>
          <p:nvPr/>
        </p:nvSpPr>
        <p:spPr>
          <a:xfrm>
            <a:off x="7548747" y="336087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4640955" y="3621476"/>
            <a:ext cx="4224528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95819" y="363976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820" dirty="0"/>
          </a:p>
        </p:txBody>
      </p:sp>
      <p:sp>
        <p:nvSpPr>
          <p:cNvPr id="95" name="Text 93"/>
          <p:cNvSpPr/>
          <p:nvPr/>
        </p:nvSpPr>
        <p:spPr>
          <a:xfrm>
            <a:off x="6341739" y="363976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NOT</a:t>
            </a:r>
            <a:endParaRPr lang="en-US" sz="820" dirty="0"/>
          </a:p>
        </p:txBody>
      </p:sp>
      <p:sp>
        <p:nvSpPr>
          <p:cNvPr id="96" name="Text 94"/>
          <p:cNvSpPr/>
          <p:nvPr/>
        </p:nvSpPr>
        <p:spPr>
          <a:xfrm>
            <a:off x="7548747" y="36397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4640955" y="3900368"/>
            <a:ext cx="4224528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95819" y="391865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820" dirty="0"/>
          </a:p>
        </p:txBody>
      </p:sp>
      <p:sp>
        <p:nvSpPr>
          <p:cNvPr id="99" name="Text 97"/>
          <p:cNvSpPr/>
          <p:nvPr/>
        </p:nvSpPr>
        <p:spPr>
          <a:xfrm>
            <a:off x="6341739" y="391865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</a:t>
            </a:r>
            <a:endParaRPr lang="en-US" sz="820" dirty="0"/>
          </a:p>
        </p:txBody>
      </p:sp>
      <p:sp>
        <p:nvSpPr>
          <p:cNvPr id="100" name="Text 98"/>
          <p:cNvSpPr/>
          <p:nvPr/>
        </p:nvSpPr>
        <p:spPr>
          <a:xfrm>
            <a:off x="7548747" y="391865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4640955" y="4179260"/>
            <a:ext cx="4224528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95819" y="419754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820" dirty="0"/>
          </a:p>
        </p:txBody>
      </p:sp>
      <p:sp>
        <p:nvSpPr>
          <p:cNvPr id="103" name="Text 101"/>
          <p:cNvSpPr/>
          <p:nvPr/>
        </p:nvSpPr>
        <p:spPr>
          <a:xfrm>
            <a:off x="6341739" y="419754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OR</a:t>
            </a:r>
            <a:endParaRPr lang="en-US" sz="820" dirty="0"/>
          </a:p>
        </p:txBody>
      </p:sp>
      <p:sp>
        <p:nvSpPr>
          <p:cNvPr id="104" name="Text 102"/>
          <p:cNvSpPr/>
          <p:nvPr/>
        </p:nvSpPr>
        <p:spPr>
          <a:xfrm>
            <a:off x="7548747" y="41975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logical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4640955" y="4458152"/>
            <a:ext cx="4224528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695819" y="447644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+=  -=  ...</a:t>
            </a:r>
            <a:endParaRPr lang="en-US" sz="820" dirty="0"/>
          </a:p>
        </p:txBody>
      </p:sp>
      <p:sp>
        <p:nvSpPr>
          <p:cNvPr id="107" name="Text 105"/>
          <p:cNvSpPr/>
          <p:nvPr/>
        </p:nvSpPr>
        <p:spPr>
          <a:xfrm>
            <a:off x="6341739" y="447644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820" dirty="0"/>
          </a:p>
        </p:txBody>
      </p:sp>
      <p:sp>
        <p:nvSpPr>
          <p:cNvPr id="108" name="Text 106"/>
          <p:cNvSpPr/>
          <p:nvPr/>
        </p:nvSpPr>
        <p:spPr>
          <a:xfrm>
            <a:off x="7548747" y="44764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evaluated last</a:t>
            </a:r>
            <a:endParaRPr lang="en-US" sz="780" dirty="0"/>
          </a:p>
        </p:txBody>
      </p:sp>
      <p:sp>
        <p:nvSpPr>
          <p:cNvPr id="109" name="Shape 107"/>
          <p:cNvSpPr/>
          <p:nvPr/>
        </p:nvSpPr>
        <p:spPr>
          <a:xfrm>
            <a:off x="4640955" y="4813042"/>
            <a:ext cx="4224528" cy="146304"/>
          </a:xfrm>
          <a:prstGeom prst="rect">
            <a:avLst/>
          </a:prstGeom>
          <a:solidFill>
            <a:srgbClr val="1A12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40955" y="4813042"/>
            <a:ext cx="4224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When in doubt — use parentheses ( ) to make precedence explicit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1522</Words>
  <Application>Microsoft Macintosh PowerPoint</Application>
  <PresentationFormat>On-screen Show (16:9)</PresentationFormat>
  <Paragraphs>348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Operators</dc:title>
  <dc:subject>PptxGenJS Presentation</dc:subject>
  <dc:creator>Python Tutorials</dc:creator>
  <cp:lastModifiedBy>Prasad VSV</cp:lastModifiedBy>
  <cp:revision>6</cp:revision>
  <dcterms:created xsi:type="dcterms:W3CDTF">2026-04-21T16:21:14Z</dcterms:created>
  <dcterms:modified xsi:type="dcterms:W3CDTF">2026-04-21T17:34:42Z</dcterms:modified>
</cp:coreProperties>
</file>