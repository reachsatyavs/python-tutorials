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9" r:id="rId8"/>
    <p:sldId id="261" r:id="rId9"/>
    <p:sldId id="262" r:id="rId10"/>
    <p:sldId id="263" r:id="rId11"/>
    <p:sldId id="264" r:id="rId12"/>
    <p:sldId id="265" r:id="rId13"/>
    <p:sldId id="266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9344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772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def → lambda → *args → **kwargs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116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2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*args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**kwargs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args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498080" y="4114800"/>
            <a:ext cx="1234440" cy="292608"/>
          </a:xfrm>
          <a:prstGeom prst="roundRect">
            <a:avLst>
              <a:gd name="adj" fmla="val 15625"/>
            </a:avLst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0" y="4114800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args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Function?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😩  Without Functions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3931920" cy="246888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18488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area1 = 5 * 4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print(f'Room 1: {area1}')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area2 = 3 * 6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print(f'Room 2: {area2}')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area3 = 7 * 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print(f'Room 3: {area3}')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43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With a Function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54880" y="1508760"/>
            <a:ext cx="3931920" cy="246888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618488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calculate_area(l, w):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 * w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print(calculate_area(5, 4))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print(calculate_area(3, 6))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print(calculate_area(7, 2))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DRY — write once, use many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4160520"/>
            <a:ext cx="274320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4206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 Reusable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4360" y="4480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once, call anywhere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83280" y="4160520"/>
            <a:ext cx="274320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0440" y="4206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Modular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20440" y="4480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code into small pieces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4160520"/>
            <a:ext cx="274320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420624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 Maintainable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46520" y="44805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one place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6" grpId="0" animBg="1"/>
      <p:bldP spid="7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Basic def &amp; return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Function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4114800" cy="228600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18488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 greet  (name):     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 keyword  name  params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 = f'Hi, {name}!'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message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greet('Alice')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'Hi, Alice!'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46320" y="16002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def  — keyword to define a function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19659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📛  greet — function name (the recipe title)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46320" y="2331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(name) — parameter (a placeholder)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26974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🔙  return — sends result back to caller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30632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greet('Alice') — call with real value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solidFill>
            <a:srgbClr val="1C2B1C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41648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Parameters are PLACEHOLDERS. Arguments are REAL VALUES. The recipe vs the ingredients.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Default Arguments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What if most callers want the same value?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508760"/>
            <a:ext cx="8229600" cy="2377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18488"/>
            <a:ext cx="7955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calculate_volume(length, width, height=3):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length * width * height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Most rooms have height=3 (default used)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print(calculate_volume(5, 4))       # → 60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Special case: override the default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print(calculate_volume(5, 4, 5))    # → 100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023360"/>
            <a:ext cx="411480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40416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432511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values sit in the signature after =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caller skips that argument → default is used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caller provides it → their value wins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4023360"/>
            <a:ext cx="4114800" cy="91440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4041648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analogy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4325112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coffee machine defaults to 1 cup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only say '3 cups' when you want something different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Silence = use the sensible default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Keyword Arguments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functions grow, positional calling becomes risky…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278892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795528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describe_person(name, age, city):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f'{name}, {age} yrs, from {city}'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Positional — ORDER matters (easy to swap by mistake)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describe_person('Alice', 25, 'Bengaluru')   # ✅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describe_person(25, 'Alice', 'Bengaluru')   # ❌ wrong!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Keyword — ORDER doesn't matter + self-documenting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describe_person(city='Bengaluru', name='Alice', age=25)  # ✅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343400"/>
            <a:ext cx="2697480" cy="640080"/>
          </a:xfrm>
          <a:prstGeom prst="rect">
            <a:avLst/>
          </a:prstGeom>
          <a:solidFill>
            <a:srgbClr val="1A1D2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37083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Positional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462686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to type, but fragile. Any wrong order = silent bug.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4343400"/>
            <a:ext cx="2697480" cy="640080"/>
          </a:xfrm>
          <a:prstGeom prst="rect">
            <a:avLst/>
          </a:prstGeom>
          <a:solidFill>
            <a:srgbClr val="1A1D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37083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🔖  Keyword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83280" y="462686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like English. Self-documenting. Order-independent.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4343400"/>
            <a:ext cx="2697480" cy="640080"/>
          </a:xfrm>
          <a:prstGeom prst="rect">
            <a:avLst/>
          </a:prstGeom>
          <a:solidFill>
            <a:srgbClr val="1A1D27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437083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Best Practice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462686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keyword args when a function has 3+ parameters.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4 - Lambda Functions - Pattern &amp; Examples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4023360" cy="658368"/>
          </a:xfrm>
          <a:prstGeom prst="rect">
            <a:avLst/>
          </a:prstGeom>
          <a:solidFill>
            <a:srgbClr val="1A1D27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5331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 </a:t>
            </a: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:  </a:t>
            </a: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**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60934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↑         </a:t>
            </a: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</a:t>
            </a:r>
            <a:r>
              <a:rPr lang="en-US" sz="10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</a:t>
            </a:r>
            <a:r>
              <a:rPr lang="en-US" sz="10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↑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1792224"/>
            <a:ext cx="3749040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  </a:t>
            </a:r>
            <a:r>
              <a:rPr lang="en-US" sz="95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r>
              <a:rPr lang="en-US" sz="9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auto-returned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2996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like a sentence: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"Given x, give back x squared"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59689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  ↔  lambda translation: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71216"/>
            <a:ext cx="4023360" cy="1572768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980944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Using def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square(x):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** 2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Exact same thing as lambda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square = lambda x: x ** 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3440" y="10058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— Simple to Practical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63440" y="1298448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Single input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1536192"/>
            <a:ext cx="42062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645920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  = lambda x: x * 2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is_even = lambda n: n % 2 == 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double(5)   = 10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is_even(6)  = True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63440" y="2505456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Two inputs + conditional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2734056"/>
            <a:ext cx="42062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2843784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   = lambda a, b: a + b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larger = lambda a, b: a if a &gt; b else b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add(3, 4)      = 7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larger(10, 7)  = 10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663440" y="3703320"/>
            <a:ext cx="4206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Inline with sorted() / filter()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663440" y="3931920"/>
            <a:ext cx="4206240" cy="91440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4041648"/>
            <a:ext cx="39319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= [('Alice',85),('Bob',72)]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sorted(students, key=lambda s: s[1])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filter(lambda s: s[1]&gt;75, students)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Use lambda when: short, used once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901184"/>
            <a:ext cx="8229600" cy="182880"/>
          </a:xfrm>
          <a:prstGeom prst="rect">
            <a:avLst/>
          </a:prstGeom>
          <a:solidFill>
            <a:srgbClr val="131B2E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910328"/>
            <a:ext cx="7955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Use lambda when the function is SHORT, used ONCE, and doesn't need a name. Otherwise, use def.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map() Function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886968"/>
            <a:ext cx="8229600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286000" y="9875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</a:t>
            </a: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r>
              <a:rPr lang="en-US" sz="1300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iterable</a:t>
            </a: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0" y="10058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Apply function to EVERY item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53312"/>
            <a:ext cx="502920" cy="347472"/>
          </a:xfrm>
          <a:prstGeom prst="rect">
            <a:avLst/>
          </a:prstGeom>
          <a:solidFill>
            <a:srgbClr val="1C2B3A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353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1353312"/>
            <a:ext cx="502920" cy="347472"/>
          </a:xfrm>
          <a:prstGeom prst="rect">
            <a:avLst/>
          </a:prstGeom>
          <a:solidFill>
            <a:srgbClr val="1C2B3A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1353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28800" y="1353312"/>
            <a:ext cx="502920" cy="347472"/>
          </a:xfrm>
          <a:prstGeom prst="rect">
            <a:avLst/>
          </a:prstGeom>
          <a:solidFill>
            <a:srgbClr val="1C2B3A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1353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514600" y="1353312"/>
            <a:ext cx="502920" cy="347472"/>
          </a:xfrm>
          <a:prstGeom prst="rect">
            <a:avLst/>
          </a:prstGeom>
          <a:solidFill>
            <a:srgbClr val="1C2B3A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14600" y="1353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0" y="1353312"/>
            <a:ext cx="502920" cy="347472"/>
          </a:xfrm>
          <a:prstGeom prst="rect">
            <a:avLst/>
          </a:prstGeom>
          <a:solidFill>
            <a:srgbClr val="1C2B3A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135331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023360" y="1371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480560" y="1316736"/>
            <a:ext cx="118872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0" y="1316736"/>
            <a:ext cx="1188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** 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15000" y="13716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217920" y="1353312"/>
            <a:ext cx="484632" cy="347472"/>
          </a:xfrm>
          <a:prstGeom prst="rect">
            <a:avLst/>
          </a:prstGeom>
          <a:solidFill>
            <a:srgbClr val="1C3A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17920" y="1353312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793992" y="1353312"/>
            <a:ext cx="484632" cy="347472"/>
          </a:xfrm>
          <a:prstGeom prst="rect">
            <a:avLst/>
          </a:prstGeom>
          <a:solidFill>
            <a:srgbClr val="1C3A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93992" y="1353312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70064" y="1353312"/>
            <a:ext cx="484632" cy="347472"/>
          </a:xfrm>
          <a:prstGeom prst="rect">
            <a:avLst/>
          </a:prstGeom>
          <a:solidFill>
            <a:srgbClr val="1C3A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70064" y="1353312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946136" y="1353312"/>
            <a:ext cx="484632" cy="347472"/>
          </a:xfrm>
          <a:prstGeom prst="rect">
            <a:avLst/>
          </a:prstGeom>
          <a:solidFill>
            <a:srgbClr val="1C3A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46136" y="1353312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522208" y="1353312"/>
            <a:ext cx="484632" cy="347472"/>
          </a:xfrm>
          <a:prstGeom prst="rect">
            <a:avLst/>
          </a:prstGeom>
          <a:solidFill>
            <a:srgbClr val="1C3A2B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22208" y="1353312"/>
            <a:ext cx="4846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1828800"/>
            <a:ext cx="2651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Named function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2103120"/>
            <a:ext cx="2651760" cy="210312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" y="2212848"/>
            <a:ext cx="2377440" cy="1901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square(x):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** 2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3, 4, 5]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list(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map(square, nums)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[1, 4, 9, 16, 25]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246120" y="1828800"/>
            <a:ext cx="265176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With lambda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246120" y="2103120"/>
            <a:ext cx="2651760" cy="210312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83280" y="2212848"/>
            <a:ext cx="2377440" cy="1901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Numbers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list(map(lambda x: x*2, nums))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[2, 4, 6, 8, 10]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Strings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words = ['hi', 'world']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list(map(lambda w: w.upper(),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words))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['HI', 'WORLD']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035040" y="1828800"/>
            <a:ext cx="2743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Two lists + chaining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035040" y="2103120"/>
            <a:ext cx="2743200" cy="2176272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72200" y="2212848"/>
            <a:ext cx="2468880" cy="19751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a=[1,2,3]; b=[10,20,30]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list(map(lambda x,y:x+y,a,b))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[11, 22, 33]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filter → map pipeline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data=[1,-2,3,-4,5]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pos=filter(lambda x:x&gt;0,data)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list(map(lambda x:x**2,pos))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→ [1, 9, 25]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4315968"/>
            <a:ext cx="3931920" cy="640080"/>
          </a:xfrm>
          <a:prstGeom prst="rect">
            <a:avLst/>
          </a:prstGeom>
          <a:solidFill>
            <a:srgbClr val="2B1C1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" y="4343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Gotcha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94360" y="456285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map() returns a lazy object — always wrap with list() to see values.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572000" y="4315968"/>
            <a:ext cx="4206240" cy="640080"/>
          </a:xfrm>
          <a:prstGeom prst="rect">
            <a:avLst/>
          </a:prstGeom>
          <a:solidFill>
            <a:srgbClr val="1A1D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09160" y="43434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vs list comprehension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709160" y="456285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map(): </a:t>
            </a: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style, slightly faster on large data  </a:t>
            </a:r>
            <a:r>
              <a:rPr lang="en-US" sz="10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[x**2 for x in nums]</a:t>
            </a:r>
            <a:r>
              <a:rPr lang="en-US" sz="10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more Pythonic, easier to read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— Lambda Functions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— A function used just once clogs your code: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😩  Regular (verbose)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93192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892808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square(x):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x ** 2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3, 4, 5]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list(map(square, nums))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4, 9, 16, 25]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0" y="14630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Lambda (concise)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783080"/>
            <a:ext cx="3931920" cy="192024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1892808"/>
            <a:ext cx="3657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[1, 2, 3, 4, 5]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list(map(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x: x ** 2, nums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4, 9, 16, 25]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94760"/>
            <a:ext cx="8229600" cy="1143000"/>
          </a:xfrm>
          <a:prstGeom prst="rect">
            <a:avLst/>
          </a:prstGeom>
          <a:solidFill>
            <a:srgbClr val="131B2E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40480"/>
            <a:ext cx="7863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9C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The Translation Rule: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133088"/>
            <a:ext cx="7863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  x  :  x ** 2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8B95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↑       ↑     ↑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keyword  input  expression (auto-returned)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— Where &amp; When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07008"/>
            <a:ext cx="7955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students = [('Alice', 85), ('Bob', 72), ('Carol', 91)]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Sort by marks  ← key= expects a function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sorted_students = sorted(students, key=lambda s: s[1])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[('Bob', 72), ('Alice', 85), ('Carol', 91)]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Filter: only those who passed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passed = list(filter(lambda s: s[1] &gt; 75, students))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[('Alice', 85), ('Carol', 91)]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Transform: add tax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prices = [100, 200, 50]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with_tax = list(map(lambda p: p * 1.18, prices))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[118.0, 236.0, 59.0]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4389120"/>
            <a:ext cx="3931920" cy="594360"/>
          </a:xfrm>
          <a:prstGeom prst="rect">
            <a:avLst/>
          </a:prstGeom>
          <a:solidFill>
            <a:srgbClr val="1C2B1C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44165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Use lambda when: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is short • Used once • Not reused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4389120"/>
            <a:ext cx="3931920" cy="594360"/>
          </a:xfrm>
          <a:prstGeom prst="rect">
            <a:avLst/>
          </a:prstGeom>
          <a:solidFill>
            <a:srgbClr val="2B1C1C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44165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Use def instead when: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4645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is complex • Reused multiple times • Needs a name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5 — *args (Variable Positional)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How many numbers will the user pass? We don't know in advance!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324612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79552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add_all(*numbers):          # * collects extras into a tuple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print(type(numbers))        # &lt;class 'tuple'&gt;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sum(numbers)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print(add_all(1, 2))            # → 3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print(add_all(1, 2, 3, 4, 5))  # → 15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print(add_all(10, 20, 30))      # → 60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Real-world: an order system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describe_order(*items):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item in items: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print(f'  - {item}')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describe_order('Pizza', 'Coke', 'Garlic Bread')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800600"/>
            <a:ext cx="8229600" cy="182880"/>
          </a:xfrm>
          <a:prstGeom prst="rect">
            <a:avLst/>
          </a:prstGeom>
          <a:solidFill>
            <a:srgbClr val="1A1D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809744"/>
            <a:ext cx="7863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*args is just a TUPLE. The * is the collector. You can loop it, index it — anything you do with tuples.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6 — **kwargs (Variable Keyword)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What if we don't know what named data will come in?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265176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79552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build_profile(**info):        # ** collects into a dict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print(type(info))             # &lt;class 'dict'&gt;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key, value in info.items():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print(f'{key}: {value}')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build_profile(name='Alice', age=25, city='Bengaluru', hobby='Chess')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name: Alice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age: 25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city: Bengaluru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hobby: Chess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206240"/>
            <a:ext cx="4114800" cy="822960"/>
          </a:xfrm>
          <a:prstGeom prst="rect">
            <a:avLst/>
          </a:prstGeom>
          <a:solidFill>
            <a:srgbClr val="1A1D27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4233672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Real-world analogy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45079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a form where you can add ANY fields — name, LinkedIn, GitHub, address — whatever you want. **kwargs is that flexible form.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4880" y="4206240"/>
            <a:ext cx="3931920" cy="822960"/>
          </a:xfrm>
          <a:prstGeom prst="rect">
            <a:avLst/>
          </a:prstGeom>
          <a:solidFill>
            <a:srgbClr val="1A1D27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42336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 Key difference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450799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*args     → unknown COUNT of values    → TUPLE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**kwargs → unknown NAME+VALUE pairs  → DICT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Level — All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B9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example: an order processing function that handles everything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3246120"/>
          </a:xfrm>
          <a:prstGeom prst="rect">
            <a:avLst/>
          </a:prstGeom>
          <a:solidFill>
            <a:srgbClr val="161B22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572768"/>
            <a:ext cx="795528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F9C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process_order(order_id, *items, discount=0, **customer_info):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print(f'Order #{order_id}')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print(f'Items: {items}')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print(f'Discount: {discount}%')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print(f'Customer: {customer_info}')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process_order(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101,                         # positional: order_id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'Pizza', 'Coke',             # *args: items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discount=10,                 # default/keyword-only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name='Alice',                # **kwargs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city='Bengaluru'             # **kwargs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4828032"/>
            <a:ext cx="1965960" cy="256032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28032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4828032"/>
            <a:ext cx="1965960" cy="256032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4828032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*items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4828032"/>
            <a:ext cx="1965960" cy="256032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4828032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discount=0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766560" y="4828032"/>
            <a:ext cx="196596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4828032"/>
            <a:ext cx="1965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**customer_info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 — Argument Types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87552"/>
            <a:ext cx="8229600" cy="3657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2194560" cy="402336"/>
          </a:xfrm>
          <a:prstGeom prst="rect">
            <a:avLst/>
          </a:prstGeom>
          <a:solidFill>
            <a:srgbClr val="4F9CF9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09728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1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Pattern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51760" y="1097280"/>
            <a:ext cx="3657600" cy="402336"/>
          </a:xfrm>
          <a:prstGeom prst="rect">
            <a:avLst/>
          </a:prstGeom>
          <a:solidFill>
            <a:srgbClr val="4F9CF9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109728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097280"/>
            <a:ext cx="2194560" cy="402336"/>
          </a:xfrm>
          <a:prstGeom prst="rect">
            <a:avLst/>
          </a:prstGeom>
          <a:solidFill>
            <a:srgbClr val="4F9CF9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09728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into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499616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f(a, b)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51760" y="1499616"/>
            <a:ext cx="365760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9961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/ keyword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499616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499616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1901952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1901952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f(a=10)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51760" y="1901952"/>
            <a:ext cx="365760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1901952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value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09360" y="1901952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1901952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304288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3042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f(*args)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51760" y="2304288"/>
            <a:ext cx="365760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30428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positionals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09360" y="2304288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30428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Tuple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2706624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2706624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f(**kwargs)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51760" y="2706624"/>
            <a:ext cx="365760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2706624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keyword pairs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2706624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0" y="2706624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Dict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108960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10896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f(*, kw)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51760" y="3108960"/>
            <a:ext cx="365760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43200" y="3108960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Keyword-only (must name it)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309360" y="3108960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3108960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3511296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" y="3511296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f(pos, /)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51760" y="3511296"/>
            <a:ext cx="365760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0" y="3511296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Positional-only (Python 3.8+)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309360" y="3511296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0" y="3511296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3913632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8640" y="3913632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f(*my_list)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51760" y="3913632"/>
            <a:ext cx="365760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743200" y="3913632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Unpack list into arguments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309360" y="3913632"/>
            <a:ext cx="2194560" cy="402336"/>
          </a:xfrm>
          <a:prstGeom prst="rect">
            <a:avLst/>
          </a:prstGeom>
          <a:solidFill>
            <a:srgbClr val="0F111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0800" y="3913632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57200" y="4315968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48640" y="431596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f(**my_dict)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51760" y="4315968"/>
            <a:ext cx="365760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743200" y="4315968"/>
            <a:ext cx="35661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Unpack dict into kwargs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309360" y="4315968"/>
            <a:ext cx="2194560" cy="402336"/>
          </a:xfrm>
          <a:prstGeom prst="rect">
            <a:avLst/>
          </a:prstGeom>
          <a:solidFill>
            <a:srgbClr val="1A1D27"/>
          </a:solidFill>
          <a:ln w="6350">
            <a:solidFill>
              <a:srgbClr val="2A2D3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400800" y="431596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1928</Words>
  <Application>Microsoft Macintosh PowerPoint</Application>
  <PresentationFormat>On-screen Show (16:9)</PresentationFormat>
  <Paragraphs>296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Functions</dc:title>
  <dc:subject>PptxGenJS Presentation</dc:subject>
  <dc:creator>Satya</dc:creator>
  <cp:lastModifiedBy>Prasad VSV</cp:lastModifiedBy>
  <cp:revision>6</cp:revision>
  <dcterms:created xsi:type="dcterms:W3CDTF">2026-04-26T23:55:56Z</dcterms:created>
  <dcterms:modified xsi:type="dcterms:W3CDTF">2026-04-27T00:15:00Z</dcterms:modified>
</cp:coreProperties>
</file>