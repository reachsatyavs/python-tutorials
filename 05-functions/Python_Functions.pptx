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934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def → lambda → *args → **kwargs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1148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411480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41148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411480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41148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411480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41148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411480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41148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args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411480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41148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args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Function?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😩  Without Functions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18488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area1 = 5 * 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print(f'Room 1: {area1}')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area2 = 3 * 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print(f'Room 2: {area2}')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area3 = 7 *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print(f'Room 3: {area3}')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a Function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393192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618488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calculate_area(l, w):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 * w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print(calculate_area(5, 4))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print(calculate_area(3, 6))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print(calculate_area(7, 2))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DRY — write once, use many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2743200" cy="777240"/>
          </a:xfrm>
          <a:prstGeom prst="rect">
            <a:avLst/>
          </a:prstGeom>
          <a:solidFill>
            <a:srgbClr val="1A1D27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206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Reusable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4480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call anywhere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4160520"/>
            <a:ext cx="2743200" cy="777240"/>
          </a:xfrm>
          <a:prstGeom prst="rect">
            <a:avLst/>
          </a:prstGeom>
          <a:solidFill>
            <a:srgbClr val="1A1D27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4206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Modular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4480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code into small pieces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4160520"/>
            <a:ext cx="2743200" cy="777240"/>
          </a:xfrm>
          <a:prstGeom prst="rect">
            <a:avLst/>
          </a:prstGeom>
          <a:solidFill>
            <a:srgbClr val="1A1D27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206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Maintainable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480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in one place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7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Basic def &amp; return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Function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148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18488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 greet  (name):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keyword  name  params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 = f'Hi, {name}!'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message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greet('Alice')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'Hi, Alice!'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600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def  — keyword to define a function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965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📛  greet — function name (the recipe title)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2331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(name) — parameter (a placeholder)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697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🔙  return — sends result back to caller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3063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greet('Alice') — call with real value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1C2B1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41648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Parameters are PLACEHOLDERS. Arguments are REAL VALUES. The recipe vs the ingredients.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Default Arguments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What if most callers want the same value?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18488"/>
            <a:ext cx="7955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calculate_volume(length, width, height=3):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length * width * height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Most rooms have height=3 (default used)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print(calculate_volume(5, 4))       # → 60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Special case: override the default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print(calculate_volume(5, 4, 5))    # → 100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4114800" cy="914400"/>
          </a:xfrm>
          <a:prstGeom prst="rect">
            <a:avLst/>
          </a:prstGeom>
          <a:solidFill>
            <a:srgbClr val="1A1D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0416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43251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values sit in the signature after =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caller skips that argument → default is used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caller provides it → their value wins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4023360"/>
            <a:ext cx="4114800" cy="91440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40416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43251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coffee machine defaults to 1 cup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say '3 cups' when you want something different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= use the sensible default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Keyword Arguments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functions grow, positional calling becomes risky…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2788920"/>
          </a:xfrm>
          <a:prstGeom prst="rect">
            <a:avLst/>
          </a:prstGeom>
          <a:solidFill>
            <a:srgbClr val="161B22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79552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describe_person(name, age, city):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f'{name}, {age} yrs, from {city}'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Positional — ORDER matters (easy to swap by mistake)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describe_person('Alice', 25, 'Bengaluru')   # 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describe_person(25, 'Alice', 'Bengaluru')   # ❌ wrong!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Keyword — ORDER doesn't matter + self-documenting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describe_person(city='Bengaluru', name='Alice', age=25)  # 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343400"/>
            <a:ext cx="2697480" cy="64008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7083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Positional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6268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type, but fragile. Any wrong order = silent bug.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4343400"/>
            <a:ext cx="2697480" cy="640080"/>
          </a:xfrm>
          <a:prstGeom prst="rect">
            <a:avLst/>
          </a:prstGeom>
          <a:solidFill>
            <a:srgbClr val="1A1D2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437083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🔖  Keyword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46268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like English. Self-documenting. Order-independent.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4343400"/>
            <a:ext cx="2697480" cy="640080"/>
          </a:xfrm>
          <a:prstGeom prst="rect">
            <a:avLst/>
          </a:prstGeom>
          <a:solidFill>
            <a:srgbClr val="1A1D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437083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Best Practice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46268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keyword args when a function has 3+ parameters.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4 - Lambda Functions - Pattern &amp;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023360" cy="658368"/>
          </a:xfrm>
          <a:prstGeom prst="rect">
            <a:avLst/>
          </a:prstGeom>
          <a:solidFill>
            <a:srgbClr val="1A1D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53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  </a:t>
            </a: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 </a:t>
            </a: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**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093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↑         </a:t>
            </a: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</a:t>
            </a: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792224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  </a:t>
            </a: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auto-returned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like a sentence: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677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"Given x, give back x squared"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9689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 ↔  lambda translation: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402336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80944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def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square(x):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** 2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Exact same thing as lambda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 = lambda x: x ** 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63440" y="1005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— Simple to Practical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129844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Single input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536192"/>
            <a:ext cx="4206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64592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 = lambda x: x * 2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is_even = lambda n: n % 2 == 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double(5)   = 10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is_even(6)  = True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0" y="2505456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Two inputs + conditional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734056"/>
            <a:ext cx="4206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84378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   = lambda a, b: a + 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larger = lambda a, b: a if a &gt; b else 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add(3, 4)      = 7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larger(10, 7)  = 10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63440" y="37033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Inline with sorted() / filter()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931920"/>
            <a:ext cx="4206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04164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[('Alice',85),('Bob',72)]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sorted(students, key=lambda s: s[1])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filter(lambda s: s[1]&gt;75, students)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lambda when: short, used once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901184"/>
            <a:ext cx="8229600" cy="182880"/>
          </a:xfrm>
          <a:prstGeom prst="rect">
            <a:avLst/>
          </a:prstGeom>
          <a:solidFill>
            <a:srgbClr val="131B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910328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lambda when the function is SHORT, used ONCE, and doesn't need a name. Otherwise, use def.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— Where &amp; When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07008"/>
            <a:ext cx="7955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[('Alice', 85), ('Bob', 72), ('Carol', 91)]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by marks  ← key= expects a function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sorted_students = sorted(students, key=lambda s: s[1])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[('Bob', 72), ('Alice', 85), ('Carol', 91)]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Filter: only those who passed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= list(filter(lambda s: s[1] &gt; 75, students))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[('Alice', 85), ('Carol', 91)]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Transform: add tax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[100, 200, 50]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with_tax = list(map(lambda p: p * 1.18, prices))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[118.0, 236.0, 59.0]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389120"/>
            <a:ext cx="3931920" cy="594360"/>
          </a:xfrm>
          <a:prstGeom prst="rect">
            <a:avLst/>
          </a:prstGeom>
          <a:solidFill>
            <a:srgbClr val="1C2B1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4165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lambda when: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4645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is short • Used once • Not reused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4389120"/>
            <a:ext cx="3931920" cy="594360"/>
          </a:xfrm>
          <a:prstGeom prst="rect">
            <a:avLst/>
          </a:prstGeom>
          <a:solidFill>
            <a:srgbClr val="2B1C1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44165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Use def instead when: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4645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is complex • Reused multiple times • Needs a name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— *args (Variable Positional)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How many numbers will the user pass? We don't know in advance!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795528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add_all(*numbers):          # * collects extras into a tuple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print(type(numbers))        # &lt;class 'tuple'&gt;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sum(numbers)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print(add_all(1, 2))            # →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print(add_all(1, 2, 3, 4, 5))  # → 15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print(add_all(10, 20, 30))      # → 60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Real-world: an order system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describe_order(*items):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item in items: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  - {item}')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describe_order('Pizza', 'Coke', 'Garlic Bread')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solidFill>
            <a:srgbClr val="1A1D2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80974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*args is just a TUPLE. The * is the collector. You can loop it, index it — anything you do with tuples.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— **kwargs (Variable Keyword)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What if we don't know what named data will come in?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7955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build_profile(**info):        # ** collects into a dict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print(type(info))             # &lt;class 'dict'&gt;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key, value in info.items():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print(f'{key}: {value}')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build_profile(name='Alice', age=25, city='Bengaluru', hobby='Chess')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name: Alice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age: 25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city: Bengaluru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hobby: Chess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4114800" cy="822960"/>
          </a:xfrm>
          <a:prstGeom prst="rect">
            <a:avLst/>
          </a:prstGeom>
          <a:solidFill>
            <a:srgbClr val="1A1D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233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Real-world analogy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45079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form where you can add ANY fields — name, LinkedIn, GitHub, address — whatever you want. **kwargs is that flexible form.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4206240"/>
            <a:ext cx="3931920" cy="822960"/>
          </a:xfrm>
          <a:prstGeom prst="rect">
            <a:avLst/>
          </a:prstGeom>
          <a:solidFill>
            <a:srgbClr val="1A1D2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42336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difference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45079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*args     → unknown COUNT of values    → TUPLE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**kwargs → unknown NAME+VALUE pairs  → DICT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Level — All Together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an order processing function that handles everything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795528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process_order(order_id, *items, discount=0, **customer_info):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print(f'Order #{order_id}')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print(f'Items: {items}')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print(f'Discount: {discount}%')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print(f'Customer: {customer_info}')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process_order(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101,                         # positional: order_id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'Pizza', 'Coke',             # *args: items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discount=10,                 # default/keyword-only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name='Alice',                # **kwargs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city='Bengaluru'             # **kwargs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828032"/>
            <a:ext cx="1965960" cy="25603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28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4828032"/>
            <a:ext cx="196596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4828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*items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4828032"/>
            <a:ext cx="1965960" cy="2560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4828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discount=0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4828032"/>
            <a:ext cx="19659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4828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**customer_info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Argument Types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194560" cy="402336"/>
          </a:xfrm>
          <a:prstGeom prst="rect">
            <a:avLst/>
          </a:prstGeom>
          <a:solidFill>
            <a:srgbClr val="4F9CF9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097280"/>
            <a:ext cx="3657600" cy="402336"/>
          </a:xfrm>
          <a:prstGeom prst="rect">
            <a:avLst/>
          </a:prstGeom>
          <a:solidFill>
            <a:srgbClr val="4F9CF9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09728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2194560" cy="402336"/>
          </a:xfrm>
          <a:prstGeom prst="rect">
            <a:avLst/>
          </a:prstGeom>
          <a:solidFill>
            <a:srgbClr val="4F9CF9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09728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into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99616"/>
            <a:ext cx="2194560" cy="402336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9961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f(a, b)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1499616"/>
            <a:ext cx="3657600" cy="402336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49961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/ keyword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499616"/>
            <a:ext cx="2194560" cy="402336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49961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901952"/>
            <a:ext cx="2194560" cy="402336"/>
          </a:xfrm>
          <a:prstGeom prst="rect">
            <a:avLst/>
          </a:prstGeom>
          <a:solidFill>
            <a:srgbClr val="1A1D2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90195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f(a=10)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1901952"/>
            <a:ext cx="3657600" cy="402336"/>
          </a:xfrm>
          <a:prstGeom prst="rect">
            <a:avLst/>
          </a:prstGeom>
          <a:solidFill>
            <a:srgbClr val="1A1D2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90195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901952"/>
            <a:ext cx="2194560" cy="402336"/>
          </a:xfrm>
          <a:prstGeom prst="rect">
            <a:avLst/>
          </a:prstGeom>
          <a:solidFill>
            <a:srgbClr val="1A1D2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90195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304288"/>
            <a:ext cx="2194560" cy="402336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30428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f(*args)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51760" y="2304288"/>
            <a:ext cx="3657600" cy="402336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230428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positionals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2304288"/>
            <a:ext cx="2194560" cy="402336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30428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706624"/>
            <a:ext cx="2194560" cy="402336"/>
          </a:xfrm>
          <a:prstGeom prst="rect">
            <a:avLst/>
          </a:prstGeom>
          <a:solidFill>
            <a:srgbClr val="1A1D2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70662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f(**kwargs)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51760" y="2706624"/>
            <a:ext cx="3657600" cy="402336"/>
          </a:xfrm>
          <a:prstGeom prst="rect">
            <a:avLst/>
          </a:prstGeom>
          <a:solidFill>
            <a:srgbClr val="1A1D2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270662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keyword pairs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2706624"/>
            <a:ext cx="2194560" cy="402336"/>
          </a:xfrm>
          <a:prstGeom prst="rect">
            <a:avLst/>
          </a:prstGeom>
          <a:solidFill>
            <a:srgbClr val="1A1D2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70662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108960"/>
            <a:ext cx="2194560" cy="402336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10896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f(*, kw)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651760" y="3108960"/>
            <a:ext cx="3657600" cy="402336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310896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Keyword-only (must name it)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09360" y="3108960"/>
            <a:ext cx="2194560" cy="402336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10896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3511296"/>
            <a:ext cx="2194560" cy="402336"/>
          </a:xfrm>
          <a:prstGeom prst="rect">
            <a:avLst/>
          </a:prstGeom>
          <a:solidFill>
            <a:srgbClr val="1A1D2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51129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f(pos, /)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651760" y="3511296"/>
            <a:ext cx="3657600" cy="402336"/>
          </a:xfrm>
          <a:prstGeom prst="rect">
            <a:avLst/>
          </a:prstGeom>
          <a:solidFill>
            <a:srgbClr val="1A1D2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0" y="351129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Positional-only (Python 3.8+)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09360" y="3511296"/>
            <a:ext cx="2194560" cy="402336"/>
          </a:xfrm>
          <a:prstGeom prst="rect">
            <a:avLst/>
          </a:prstGeom>
          <a:solidFill>
            <a:srgbClr val="1A1D2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351129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3913632"/>
            <a:ext cx="2194560" cy="402336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391363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f(*my_list)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651760" y="3913632"/>
            <a:ext cx="3657600" cy="402336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0" y="391363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 list into arguments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309360" y="3913632"/>
            <a:ext cx="2194560" cy="402336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391363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" y="4315968"/>
            <a:ext cx="2194560" cy="402336"/>
          </a:xfrm>
          <a:prstGeom prst="rect">
            <a:avLst/>
          </a:prstGeom>
          <a:solidFill>
            <a:srgbClr val="1A1D2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431596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f(**my_dict)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651760" y="4315968"/>
            <a:ext cx="3657600" cy="402336"/>
          </a:xfrm>
          <a:prstGeom prst="rect">
            <a:avLst/>
          </a:prstGeom>
          <a:solidFill>
            <a:srgbClr val="1A1D2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0" y="43159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 dict into kwargs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309360" y="4315968"/>
            <a:ext cx="2194560" cy="402336"/>
          </a:xfrm>
          <a:prstGeom prst="rect">
            <a:avLst/>
          </a:prstGeom>
          <a:solidFill>
            <a:srgbClr val="1A1D27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0" y="431596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1511</Words>
  <Application>Microsoft Macintosh PowerPoint</Application>
  <PresentationFormat>On-screen Show (16:9)</PresentationFormat>
  <Paragraphs>225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Functions</dc:title>
  <dc:subject>PptxGenJS Presentation</dc:subject>
  <dc:creator>Satya</dc:creator>
  <cp:lastModifiedBy>Prasad VSV</cp:lastModifiedBy>
  <cp:revision>7</cp:revision>
  <dcterms:created xsi:type="dcterms:W3CDTF">2026-04-26T23:55:56Z</dcterms:created>
  <dcterms:modified xsi:type="dcterms:W3CDTF">2026-05-03T16:19:26Z</dcterms:modified>
</cp:coreProperties>
</file>