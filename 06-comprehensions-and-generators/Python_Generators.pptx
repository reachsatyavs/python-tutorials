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0870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0" y="274320"/>
            <a:ext cx="20116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0" dirty="0">
                <a:solidFill>
                  <a:srgbClr val="0D9488">
                    <a:alpha val="45000"/>
                  </a:srgbClr>
                </a:solidFill>
              </a:rPr>
              <a:t>⚡</a:t>
            </a:r>
            <a:endParaRPr lang="en-US" sz="110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Python Series · Module 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3716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</a:rPr>
              <a:t>Python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365760" y="20116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D9488"/>
                </a:solidFill>
              </a:rPr>
              <a:t>Generators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365760" y="28346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BD5E1"/>
                </a:solidFill>
              </a:rPr>
              <a:t>Lazy · Memory-efficient · Powerful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65760" y="3566160"/>
            <a:ext cx="192024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35661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What &amp; Why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14600" y="3566160"/>
            <a:ext cx="192024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14600" y="35661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yield vs return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3566160"/>
            <a:ext cx="192024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35661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Use Cases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12280" y="3566160"/>
            <a:ext cx="1920240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12280" y="35661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Advanced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Satya VS  ·  github.com/reachsatyavs/python-tutorials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What is a Generator?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8412480" cy="475488"/>
          </a:xfrm>
          <a:prstGeom prst="rect">
            <a:avLst/>
          </a:prstGeom>
          <a:solidFill>
            <a:srgbClr val="CCFBF1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786384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</a:rPr>
              <a:t>A function that uses  yield  instead of  return  — produces values one at a time, pausing after each yield and resuming on demand.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65760" y="1344168"/>
            <a:ext cx="5120640" cy="32918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17320"/>
            <a:ext cx="4846320" cy="3145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simple_gen():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print("→ step 1")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yield 10          # pause here, hand over 10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print("→ step 2")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yield 20          # pause again, hand over 20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print("→ step 3")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yield 30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 = simple_gen()    # nothing runs yet!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print(type(gen))      # &lt;class 'generator'&gt;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print(next(gen))      # → step 1 runs  →  10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print(next(gen))      # → step 2 runs  →  20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print(next(gen))      # → step 3 runs  →  30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669280" y="1344168"/>
            <a:ext cx="3017520" cy="1005840"/>
          </a:xfrm>
          <a:prstGeom prst="rect">
            <a:avLst/>
          </a:prstGeom>
          <a:solidFill>
            <a:srgbClr val="CCFBF1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60720" y="14356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</a:rPr>
              <a:t>①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236208" y="14356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Calling a generator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236208" y="174650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does NOT run it — returns a generator object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669280" y="2459736"/>
            <a:ext cx="3017520" cy="1005840"/>
          </a:xfrm>
          <a:prstGeom prst="rect">
            <a:avLst/>
          </a:prstGeom>
          <a:solidFill>
            <a:srgbClr val="FEF3C7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0" y="255117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</a:rPr>
              <a:t>②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236208" y="255117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Body runs only when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36208" y="286207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next() is called — on demand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0" y="3575304"/>
            <a:ext cx="3017520" cy="1005840"/>
          </a:xfrm>
          <a:prstGeom prst="rect">
            <a:avLst/>
          </a:prstGeom>
          <a:solidFill>
            <a:srgbClr val="EDE9F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0" y="366674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C3AED"/>
                </a:solidFill>
              </a:rPr>
              <a:t>③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36208" y="366674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Execution pauses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36208" y="3977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at each yield and resumes from the same point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65760" y="482803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</a:rPr>
              <a:t>yield = pause · hand over a value · wait for next()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yield  vs  return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682353"/>
            <a:ext cx="841248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926080" y="682353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035040" y="682353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yield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048113"/>
            <a:ext cx="84124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02977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</a:rPr>
              <a:t>Runs the function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017520" y="1102977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F4444"/>
                </a:solidFill>
              </a:rPr>
              <a:t>All at once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126480" y="1102977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9488"/>
                </a:solidFill>
              </a:rPr>
              <a:t>One step at a time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487025"/>
            <a:ext cx="8412480" cy="42062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541889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</a:rPr>
              <a:t>Returns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017520" y="1541889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F4444"/>
                </a:solidFill>
              </a:rPr>
              <a:t>One value, then done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126480" y="1541889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9488"/>
                </a:solidFill>
              </a:rPr>
              <a:t>One value, then pauses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25937"/>
            <a:ext cx="84124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1980801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</a:rPr>
              <a:t>Can resume?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017520" y="1980801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F4444"/>
                </a:solidFill>
              </a:rPr>
              <a:t>No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26480" y="1980801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9488"/>
                </a:solidFill>
              </a:rPr>
              <a:t>Yes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364849"/>
            <a:ext cx="8412480" cy="42062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419713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</a:rPr>
              <a:t>Memory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017520" y="2419713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F4444"/>
                </a:solidFill>
              </a:rPr>
              <a:t>All results upfront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26480" y="2419713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9488"/>
                </a:solidFill>
              </a:rPr>
              <a:t>One value at a time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2803761"/>
            <a:ext cx="84124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2858625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</a:rPr>
              <a:t>Type returned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017520" y="2858625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F4444"/>
                </a:solidFill>
              </a:rPr>
              <a:t>The value itself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126480" y="2858625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9488"/>
                </a:solidFill>
              </a:rPr>
              <a:t>Generator object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297537"/>
            <a:ext cx="4023360" cy="1572768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3370689"/>
            <a:ext cx="374904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return — all at once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get_nums():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[1,2,3,4,5]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 = get_nums()   # list built NOW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[1, 2, 3, 4, 5]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54880" y="3297537"/>
            <a:ext cx="4023360" cy="1572768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3370689"/>
            <a:ext cx="374904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yield — one at a time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get_nums():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in range(1,6):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yield i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v in get_nums(): print(v)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  2  3  4  5  — lazily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297680" y="3910185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9488"/>
                </a:solidFill>
              </a:rPr>
              <a:t>→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365760" y="486131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</a:rPr>
              <a:t>yield pauses — return finishes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Why Generators? — Memory &amp; Speed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8412480" cy="438912"/>
          </a:xfrm>
          <a:prstGeom prst="rect">
            <a:avLst/>
          </a:prstGeom>
          <a:solidFill>
            <a:srgbClr val="CCFBF1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77724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</a:rPr>
              <a:t>A generator for 1 million items uses ~192 bytes regardless of size. A list uses ~8 MB. Same result, 44,000x less memory.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65760" y="1316736"/>
            <a:ext cx="5303520" cy="30175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89888"/>
            <a:ext cx="5029200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sys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1_000_000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big_list = [x for x in range(n)]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big_gen  = (x for x in range(n))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print(sys.getsizeof(big_list))  # 8,448,728 bytes  (8 MB)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print(sys.getsizeof(big_gen))   #       192 bytes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sum — generator is faster too (no list to build)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sum([x**2 for x in range(n)])   # ~250ms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 x**2 for x in range(n) )   # ~55ms  ← no list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852160" y="1316736"/>
            <a:ext cx="2834640" cy="658368"/>
          </a:xfrm>
          <a:prstGeom prst="rect">
            <a:avLst/>
          </a:prstGeom>
          <a:solidFill>
            <a:srgbClr val="FEE2E2"/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89320" y="137160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list — 1M items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89320" y="15727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F4444"/>
                </a:solidFill>
              </a:rPr>
              <a:t>8 MB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989320" y="177393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8,448,728 bytes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852160" y="2066544"/>
            <a:ext cx="2834640" cy="658368"/>
          </a:xfrm>
          <a:prstGeom prst="rect">
            <a:avLst/>
          </a:prstGeom>
          <a:solidFill>
            <a:srgbClr val="CCFBF1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212140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generator — 1M items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89320" y="232257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9488"/>
                </a:solidFill>
              </a:rPr>
              <a:t>192 B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989320" y="2523744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192 bytes always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852160" y="2816352"/>
            <a:ext cx="2834640" cy="658368"/>
          </a:xfrm>
          <a:prstGeom prst="rect">
            <a:avLst/>
          </a:prstGeom>
          <a:solidFill>
            <a:srgbClr val="EDE9F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89320" y="287121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memory saving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989320" y="307238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C3AED"/>
                </a:solidFill>
              </a:rPr>
              <a:t>44,000x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989320" y="327355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same result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852160" y="3566160"/>
            <a:ext cx="2834640" cy="658368"/>
          </a:xfrm>
          <a:prstGeom prst="rect">
            <a:avLst/>
          </a:prstGeom>
          <a:solidFill>
            <a:srgbClr val="FEF3C7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89320" y="362102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speed gain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989320" y="382219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9E0B"/>
                </a:solidFill>
              </a:rPr>
              <a:t>~4.5x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989320" y="402336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no list building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</a:rPr>
              <a:t>Generator size stays constant — 192 bytes whether 10 items or 10 billion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Use Cases — When to reach for a Generator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412480" cy="749808"/>
          </a:xfrm>
          <a:prstGeom prst="rect">
            <a:avLst/>
          </a:prstGeom>
          <a:solidFill>
            <a:srgbClr val="CCFBF1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777240"/>
            <a:ext cx="457200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77240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868680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Large file processing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16128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Read CSV/logs line by line — memory stays constant regardless of file size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618488"/>
            <a:ext cx="8412480" cy="749808"/>
          </a:xfrm>
          <a:prstGeom prst="rect">
            <a:avLst/>
          </a:prstGeom>
          <a:solidFill>
            <a:srgbClr val="FEF3C7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618488"/>
            <a:ext cx="457200" cy="7498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618488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1709928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Infinite sequences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2002536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Model sequences that never end — counters, IDs, streams — take only what you need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459736"/>
            <a:ext cx="8412480" cy="749808"/>
          </a:xfrm>
          <a:prstGeom prst="rect">
            <a:avLst/>
          </a:prstGeom>
          <a:solidFill>
            <a:srgbClr val="EDE9F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459736"/>
            <a:ext cx="457200" cy="7498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459736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14400" y="2551176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Data pipelines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2843784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Chain lazy stages — parse → filter → transform. Nothing runs until consumed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300984"/>
            <a:ext cx="8412480" cy="749808"/>
          </a:xfrm>
          <a:prstGeom prst="rect">
            <a:avLst/>
          </a:prstGeom>
          <a:solidFill>
            <a:srgbClr val="FEE2E2"/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300984"/>
            <a:ext cx="457200" cy="7498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300984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14400" y="3392424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Pagination / streaming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4400" y="368503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Process API responses, DB cursors, or network data batch by batch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4142232"/>
            <a:ext cx="8412480" cy="749808"/>
          </a:xfrm>
          <a:prstGeom prst="rect">
            <a:avLst/>
          </a:prstGeom>
          <a:solidFill>
            <a:srgbClr val="DCFCE7"/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4142232"/>
            <a:ext cx="457200" cy="7498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142232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14400" y="4233672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On-demand sequences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14400" y="45262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Fibonacci, primes, permutations — generate only as many as needed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5760" y="4956048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9488"/>
                </a:solidFill>
              </a:rPr>
              <a:t>Rule: if you would never need all values at once → use a generator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Use Case 1 — Large Files  ·  Use Case 2 — Infinite Sequences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411480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4980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Large file — line by line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4114800" cy="29260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70432"/>
            <a:ext cx="3840480" cy="2779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read_students(filepath):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with open(filepath) as f: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line in f: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name, score = line.strip().split(',')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yield {'name': name, 'score': int(score)}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s in read_students('data.csv'):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status = 'PASS' if s['score']&gt;=60 else 'FAIL'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print(s['name'], status)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memory stays constant — 10KB or 10GB same RAM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line_count(f):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sum(1 for _ in open(f))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63440" y="749808"/>
            <a:ext cx="4114800" cy="320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74980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Infinite sequence — take only 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097280"/>
            <a:ext cx="4114800" cy="29260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170432"/>
            <a:ext cx="3840480" cy="2779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itertools import islice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infinite_counter(start=0, step=1):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 = start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True:    # safe — yield pauses it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yield 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 += step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= infinite_counter(start=10, step=5)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print([next(c) for _ in range(6)])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[10, 15, 20, 25, 30, 35]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evens = (x for x in range(10**9) if x%2==0)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print(list(islice(evens, 5)))  # [0,2,4,6,8]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</a:rPr>
              <a:t>A list cannot be infinite · A generator can model any unbounded sequence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Use Case 3 — Lazy Data Pipeline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8412480" cy="420624"/>
          </a:xfrm>
          <a:prstGeom prst="rect">
            <a:avLst/>
          </a:prstGeom>
          <a:solidFill>
            <a:srgbClr val="EDE9F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777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Chain generators together — each stage is lazy. Nothing runs until the final stage is consumed.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1508760" cy="749808"/>
          </a:xfrm>
          <a:prstGeom prst="rect">
            <a:avLst/>
          </a:prstGeom>
          <a:solidFill>
            <a:srgbClr val="F1F5F9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5331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4748B"/>
                </a:solidFill>
              </a:rPr>
              <a:t>raw data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62763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mixed strings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901952" y="146304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103120" y="1280160"/>
            <a:ext cx="1508760" cy="749808"/>
          </a:xfrm>
          <a:prstGeom prst="rect">
            <a:avLst/>
          </a:prstGeom>
          <a:solidFill>
            <a:srgbClr val="CCFBF1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03120" y="135331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</a:rPr>
              <a:t>parse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03120" y="162763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numeric only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39312" y="146304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840480" y="1280160"/>
            <a:ext cx="1508760" cy="749808"/>
          </a:xfrm>
          <a:prstGeom prst="rect">
            <a:avLst/>
          </a:prstGeom>
          <a:solidFill>
            <a:srgbClr val="FEF3C7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0" y="135331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</a:rPr>
              <a:t>filter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840480" y="162763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&gt; 50 only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376672" y="146304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577840" y="1280160"/>
            <a:ext cx="1508760" cy="749808"/>
          </a:xfrm>
          <a:prstGeom prst="rect">
            <a:avLst/>
          </a:prstGeom>
          <a:solidFill>
            <a:srgbClr val="EDE9F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77840" y="135331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</a:rPr>
              <a:t>double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577840" y="162763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× 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114032" y="146304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315200" y="1280160"/>
            <a:ext cx="1508760" cy="749808"/>
          </a:xfrm>
          <a:prstGeom prst="rect">
            <a:avLst/>
          </a:prstGeom>
          <a:solidFill>
            <a:srgbClr val="DCFCE7"/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0" y="135331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A34A"/>
                </a:solidFill>
              </a:rPr>
              <a:t>result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315200" y="162763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list()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2148840"/>
            <a:ext cx="8412480" cy="263347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2221992"/>
            <a:ext cx="8138160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 = ['  42 ', 'hello', ' 17', '99', ' bad ', '55 ', 'abc']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parse_numbers(records):     # stage 1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r in records: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 = r.strip()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s.isdigit(): yield int(s)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filter_high(nums, t=50):    # stage 2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n in nums: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n &gt; t: yield n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double(nums):               # stage 3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n in nums: yield n * 2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s1 = parse_numbers(raw)         # lazy — nothing runs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s2 = filter_high(s1, t=50)      # lazy — nothing runs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s3 = double(s2)                 # lazy — nothing runs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print(list(s3))                 # NOW everything runs: [198, 110]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Use Case 4 — Pagination  ·  Use Case 5 — Fibonacci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4114800" cy="3200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4980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Pagination — process in chunks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4114800" cy="32918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70432"/>
            <a:ext cx="3840480" cy="3145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paginate(data, page_size):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in range(0, len(data), page_size):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yield data[i : i + page_size]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records = list(range(1, 22))  # 21 records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n, page in enumerate(paginate(records, 5), 1):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print(f'Page {n}: {page}')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Page 1: [1, 2, 3, 4, 5]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Page 2: [6, 7, 8, 9, 10]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Page 3: [11, 12, 13, 14, 15]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Page 4: [16, 17, 18, 19, 20]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Page 5: [21]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63440" y="749808"/>
            <a:ext cx="4114800" cy="3200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74980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Fibonacci — on demand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097280"/>
            <a:ext cx="4114800" cy="32918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170432"/>
            <a:ext cx="3840480" cy="3145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fibonacci():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a, b = 0, 1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True: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yield a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a, b = b, a + b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fib = fibonacci()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first12 = [next(fib) for _ in range(12)]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print(first12)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[0,1,1,2,3,5,8,13,21,34,55,89]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find first &gt; 1000 — stops immediately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fib   = fibonacci()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large = next(f for f in fib if f &gt; 1000)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print(large)  # 1597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</a:rPr>
              <a:t>Generators model real-world batch processing and mathematical sequences naturally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Advanced — send()  ·  yield from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4114800" cy="320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4980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send() — push a value IN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4114800" cy="420624"/>
          </a:xfrm>
          <a:prstGeom prst="rect">
            <a:avLst/>
          </a:prstGeom>
          <a:solidFill>
            <a:srgbClr val="EDE9F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2471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</a:rPr>
              <a:t>yield both sends a value OUT and receives a value IN via send()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1554480"/>
            <a:ext cx="4114800" cy="235915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627632"/>
            <a:ext cx="3840480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running_total():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total = 0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True: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value = yield total  # OUT: total  IN: value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total += value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rt = running_total()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next(rt)              # prime — required first step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print(rt.send(10))    # → 10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print(rt.send(25))    # → 35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print(rt.send(15))    # → 50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3950208"/>
            <a:ext cx="4114800" cy="402336"/>
          </a:xfrm>
          <a:prstGeom prst="rect">
            <a:avLst/>
          </a:prstGeom>
          <a:solidFill>
            <a:srgbClr val="FEF3C7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9776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</a:rPr>
              <a:t>Always call next(gen) once before send() to prime the generator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63440" y="749808"/>
            <a:ext cx="411480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74980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yield from — delegate to sub-generator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1097280"/>
            <a:ext cx="4114800" cy="37490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1170432"/>
            <a:ext cx="3840480" cy="3602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inner():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yield "A"; yield "B"; yield "C"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outer():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yield "start"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yield from inner()  # no manual loop needed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yield "end"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print(list(outer()))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['start', 'A', 'B', 'C', 'end']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recursive flattening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flatten(nested):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item in nested: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isinstance(item, list):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yield from flatten(item)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else: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yield item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print(list(flatten([1,[2,3],[4,[5,6]],7])))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[1, 2, 3, 4, 5, 6, 7]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Quick Recap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</a:rPr>
              <a:t>Python Generators — Cheat Sheet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5029200" cy="13258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78992"/>
            <a:ext cx="475488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gen(): yield value          # generator function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 = (expr for x in it)         # generator expression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next(g)                         # pull one value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g.send(value)                   # push a value in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yield from other_gen()          # delegate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577840" y="1005840"/>
            <a:ext cx="3200400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77840" y="100584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Use generator when...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577840" y="1362456"/>
            <a:ext cx="3200400" cy="365760"/>
          </a:xfrm>
          <a:prstGeom prst="rect">
            <a:avLst/>
          </a:prstGeom>
          <a:solidFill>
            <a:srgbClr val="1E3A5F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0" y="140817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Large file / dataset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90688" y="14081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D9488"/>
                </a:solidFill>
              </a:rPr>
              <a:t>✅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577840" y="1746504"/>
            <a:ext cx="3200400" cy="365760"/>
          </a:xfrm>
          <a:prstGeom prst="rect">
            <a:avLst/>
          </a:prstGeom>
          <a:solidFill>
            <a:srgbClr val="1A3258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0" y="179222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Infinite sequence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790688" y="179222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D9488"/>
                </a:solidFill>
              </a:rPr>
              <a:t>✅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577840" y="2130552"/>
            <a:ext cx="3200400" cy="365760"/>
          </a:xfrm>
          <a:prstGeom prst="rect">
            <a:avLst/>
          </a:prstGeom>
          <a:solidFill>
            <a:srgbClr val="1E3A5F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0" y="21762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Data pipeline / lazy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790688" y="21762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D9488"/>
                </a:solidFill>
              </a:rPr>
              <a:t>✅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577840" y="2514600"/>
            <a:ext cx="3200400" cy="365760"/>
          </a:xfrm>
          <a:prstGeom prst="rect">
            <a:avLst/>
          </a:prstGeom>
          <a:solidFill>
            <a:srgbClr val="1A3258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0" y="25603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Need indexing [i]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790688" y="2560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F4444"/>
                </a:solidFill>
              </a:rPr>
              <a:t>❌ use list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577840" y="2898648"/>
            <a:ext cx="3200400" cy="365760"/>
          </a:xfrm>
          <a:prstGeom prst="rect">
            <a:avLst/>
          </a:prstGeom>
          <a:solidFill>
            <a:srgbClr val="1E3A5F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0" y="294436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Iterate more than once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790688" y="29443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F4444"/>
                </a:solidFill>
              </a:rPr>
              <a:t>❌ use list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2423160"/>
            <a:ext cx="502920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242316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Key rules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2743200"/>
            <a:ext cx="5029200" cy="365760"/>
          </a:xfrm>
          <a:prstGeom prst="rect">
            <a:avLst/>
          </a:prstGeom>
          <a:solidFill>
            <a:srgbClr val="1E3A5F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279806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· Can only iterate ONCE — exhausted after one pass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65760" y="3127248"/>
            <a:ext cx="5029200" cy="365760"/>
          </a:xfrm>
          <a:prstGeom prst="rect">
            <a:avLst/>
          </a:prstGeom>
          <a:solidFill>
            <a:srgbClr val="1A3258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318211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· for loop handles StopIteration automatically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65760" y="3511296"/>
            <a:ext cx="5029200" cy="365760"/>
          </a:xfrm>
          <a:prstGeom prst="rect">
            <a:avLst/>
          </a:prstGeom>
          <a:solidFill>
            <a:srgbClr val="1E3A5F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356616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· Always next(gen) before send() to prime it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65760" y="3895344"/>
            <a:ext cx="5029200" cy="365760"/>
          </a:xfrm>
          <a:prstGeom prst="rect">
            <a:avLst/>
          </a:prstGeom>
          <a:solidFill>
            <a:srgbClr val="1A3258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395020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· Generator expression ( ) = quick one-liner form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65760" y="4279392"/>
            <a:ext cx="5029200" cy="365760"/>
          </a:xfrm>
          <a:prstGeom prst="rect">
            <a:avLst/>
          </a:prstGeom>
          <a:solidFill>
            <a:srgbClr val="1E3A5F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433425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· yield from replaces manual loop when delegating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943600" y="484632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</a:rPr>
              <a:t>github.com/reachsatyavs/python-tutorials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1772</Words>
  <Application>Microsoft Macintosh PowerPoint</Application>
  <PresentationFormat>On-screen Show (16:9)</PresentationFormat>
  <Paragraphs>283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Generators</dc:title>
  <dc:subject>PptxGenJS Presentation</dc:subject>
  <dc:creator>PptxGenJS</dc:creator>
  <cp:lastModifiedBy>Prasad VSV</cp:lastModifiedBy>
  <cp:revision>3</cp:revision>
  <dcterms:created xsi:type="dcterms:W3CDTF">2026-05-03T12:57:17Z</dcterms:created>
  <dcterms:modified xsi:type="dcterms:W3CDTF">2026-05-03T13:00:25Z</dcterms:modified>
</cp:coreProperties>
</file>