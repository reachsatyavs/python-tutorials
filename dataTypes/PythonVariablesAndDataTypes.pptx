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0" r:id="rId2"/>
    <p:sldId id="261" r:id="rId3"/>
    <p:sldId id="262" r:id="rId4"/>
    <p:sldId id="256" r:id="rId5"/>
    <p:sldId id="257" r:id="rId6"/>
    <p:sldId id="258" r:id="rId7"/>
    <p:sldId id="259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139" d="100"/>
          <a:sy n="139" d="100"/>
        </p:scale>
        <p:origin x="176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84407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eachsatyavs/python-tutorials/blob/main/dataTypes/string-examples.py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eachsatyavs/python-tutorials/blob/main/dataTypes/tuple-example.py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eachsatyavs/python-tutorials/blob/main/dataTypes/dist-examples.py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eachsatyavs/python-tutorials/blob/main/dataTypes/list-example.py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Variable?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75320" y="0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4992624"/>
            <a:ext cx="914400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5029200"/>
            <a:ext cx="8595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Course  ·  Variables  ·  github.com/reachsatyavs/python-tutorials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256032" y="822960"/>
            <a:ext cx="4041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6032" y="1152144"/>
            <a:ext cx="4041648" cy="36576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" y="1243584"/>
            <a:ext cx="40416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variable is a named label.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hold a value directly.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it points to a memory address, and that address holds the actual value (object).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56032" y="2139696"/>
            <a:ext cx="4041648" cy="2596896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" y="2139696"/>
            <a:ext cx="1920240" cy="24688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" y="2139696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Model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20624" y="2523744"/>
            <a:ext cx="1024128" cy="493776"/>
          </a:xfrm>
          <a:prstGeom prst="rect">
            <a:avLst/>
          </a:prstGeom>
          <a:solidFill>
            <a:srgbClr val="162D4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" y="2523744"/>
            <a:ext cx="1024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0624" y="3026664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463040" y="2770632"/>
            <a:ext cx="347472" cy="0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99616" y="2596896"/>
            <a:ext cx="274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828800" y="2523744"/>
            <a:ext cx="1188720" cy="493776"/>
          </a:xfrm>
          <a:prstGeom prst="rect">
            <a:avLst/>
          </a:prstGeom>
          <a:solidFill>
            <a:srgbClr val="1A1A0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28800" y="2523744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0x1A2B3C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28800" y="302666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address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035808" y="2770632"/>
            <a:ext cx="347472" cy="0"/>
          </a:xfrm>
          <a:prstGeom prst="line">
            <a:avLst/>
          </a:prstGeom>
          <a:noFill/>
          <a:ln w="254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72384" y="2596896"/>
            <a:ext cx="274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3401568" y="2523744"/>
            <a:ext cx="713232" cy="493776"/>
          </a:xfrm>
          <a:prstGeom prst="rect">
            <a:avLst/>
          </a:prstGeom>
          <a:solidFill>
            <a:srgbClr val="003322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01568" y="2523744"/>
            <a:ext cx="7132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401568" y="302666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 value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47472" y="3273552"/>
            <a:ext cx="374904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dot"/>
          </a:ln>
        </p:spPr>
      </p:sp>
      <p:sp>
        <p:nvSpPr>
          <p:cNvPr id="28" name="Shape 26"/>
          <p:cNvSpPr/>
          <p:nvPr/>
        </p:nvSpPr>
        <p:spPr>
          <a:xfrm>
            <a:off x="420624" y="3401568"/>
            <a:ext cx="1024128" cy="493776"/>
          </a:xfrm>
          <a:prstGeom prst="rect">
            <a:avLst/>
          </a:prstGeom>
          <a:solidFill>
            <a:srgbClr val="162D4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624" y="3401568"/>
            <a:ext cx="1024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20624" y="39044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1463040" y="3648456"/>
            <a:ext cx="347472" cy="0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499616" y="3474720"/>
            <a:ext cx="274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828800" y="3401568"/>
            <a:ext cx="1188720" cy="493776"/>
          </a:xfrm>
          <a:prstGeom prst="rect">
            <a:avLst/>
          </a:prstGeom>
          <a:solidFill>
            <a:srgbClr val="1A1A0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828800" y="3401568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0x4D5E6F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828800" y="390448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address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035808" y="3648456"/>
            <a:ext cx="347472" cy="0"/>
          </a:xfrm>
          <a:prstGeom prst="line">
            <a:avLst/>
          </a:prstGeom>
          <a:noFill/>
          <a:ln w="25400">
            <a:solidFill>
              <a:srgbClr val="A78BF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72384" y="3474720"/>
            <a:ext cx="274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3401568" y="3401568"/>
            <a:ext cx="713232" cy="493776"/>
          </a:xfrm>
          <a:prstGeom prst="rect">
            <a:avLst/>
          </a:prstGeom>
          <a:solidFill>
            <a:srgbClr val="1A00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01568" y="3401568"/>
            <a:ext cx="7132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"Alice"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401568" y="3904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 value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20624" y="464515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name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828800" y="46451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address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01568" y="4645152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(object)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462272" y="804672"/>
            <a:ext cx="27432" cy="41148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63440" y="82296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Model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4663440" y="1152144"/>
            <a:ext cx="4206240" cy="36576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63440" y="1280160"/>
            <a:ext cx="4224528" cy="804672"/>
          </a:xfrm>
          <a:prstGeom prst="rect">
            <a:avLst/>
          </a:prstGeom>
          <a:solidFill>
            <a:srgbClr val="0A1628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736592" y="1481328"/>
            <a:ext cx="384048" cy="384048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36592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212080" y="13350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 (name)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212080" y="160934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 you write in code.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 e, name, price, is_active …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in the program's namespace.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663440" y="2231136"/>
            <a:ext cx="4224528" cy="804672"/>
          </a:xfrm>
          <a:prstGeom prst="rect">
            <a:avLst/>
          </a:prstGeom>
          <a:solidFill>
            <a:srgbClr val="1A140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736592" y="2432304"/>
            <a:ext cx="384048" cy="3840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36592" y="2432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212080" y="22860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Address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5212080" y="25603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unique slot in RAM where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is stored.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id(x) shows this address in CPython.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663440" y="3182112"/>
            <a:ext cx="4224528" cy="804672"/>
          </a:xfrm>
          <a:prstGeom prst="rect">
            <a:avLst/>
          </a:prstGeom>
          <a:solidFill>
            <a:srgbClr val="001A11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736592" y="3383280"/>
            <a:ext cx="384048" cy="384048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36592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5212080" y="32369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 (object)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5212080" y="351129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data — int 25,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'Alice', list [1,2,3] …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type, a value, and a ref-count.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4663440" y="4187952"/>
            <a:ext cx="4224528" cy="566928"/>
          </a:xfrm>
          <a:prstGeom prst="rect">
            <a:avLst/>
          </a:prstGeom>
          <a:solidFill>
            <a:srgbClr val="1C140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663440" y="4187952"/>
            <a:ext cx="64008" cy="56692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791456" y="4224528"/>
            <a:ext cx="4005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Use id(x) to see the memory address Python assigned to a variable: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4791456" y="4462272"/>
            <a:ext cx="4005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= 25 ;  print(id(age))   # e.g.  140450123456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Naming Conventions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75320" y="0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4992624"/>
            <a:ext cx="914400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5029200"/>
            <a:ext cx="8595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Course  ·  Variables  ·  github.com/reachsatyavs/python-tutorials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256032" y="786384"/>
            <a:ext cx="8631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enforces some rules, and PEP 8 adds recommended style conventions.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6032" y="1060704"/>
            <a:ext cx="4114800" cy="24688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" y="1060704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VALID — must follow these rules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92608" y="1408176"/>
            <a:ext cx="182880" cy="18288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1371600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start with a letter (a–z, A–Z) or underscore  _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92608" y="1810512"/>
            <a:ext cx="182880" cy="18288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17739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contain letters, digits (0–9), and underscores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92608" y="2212848"/>
            <a:ext cx="182880" cy="18288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2176272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Case-sensitive:  age,  Age,  and  AGE  are three different variables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92608" y="2615184"/>
            <a:ext cx="182880" cy="18288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2578608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length limit — but keep names meaningful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56032" y="3035808"/>
            <a:ext cx="411480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6032" y="3127248"/>
            <a:ext cx="4114800" cy="24688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" y="3127248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INVALID — causes SyntaxError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92608" y="3493008"/>
            <a:ext cx="1133856" cy="274320"/>
          </a:xfrm>
          <a:prstGeom prst="rect">
            <a:avLst/>
          </a:prstGeom>
          <a:solidFill>
            <a:srgbClr val="2D0A0A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" y="349300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2fast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481328" y="345643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starts with a digit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92608" y="3858768"/>
            <a:ext cx="1133856" cy="274320"/>
          </a:xfrm>
          <a:prstGeom prst="rect">
            <a:avLst/>
          </a:prstGeom>
          <a:solidFill>
            <a:srgbClr val="2D0A0A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2608" y="38587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my-var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481328" y="382219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hyphen is subtraction operator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2608" y="4224528"/>
            <a:ext cx="1133856" cy="274320"/>
          </a:xfrm>
          <a:prstGeom prst="rect">
            <a:avLst/>
          </a:prstGeom>
          <a:solidFill>
            <a:srgbClr val="2D0A0A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2608" y="422452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481328" y="418795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reserved Python keyword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92608" y="4590288"/>
            <a:ext cx="1133856" cy="274320"/>
          </a:xfrm>
          <a:prstGeom prst="rect">
            <a:avLst/>
          </a:prstGeom>
          <a:solidFill>
            <a:srgbClr val="2D0A0A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2608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 name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481328" y="455371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space not allowed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26280" y="804672"/>
            <a:ext cx="27432" cy="41148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6592" y="1060704"/>
            <a:ext cx="4151376" cy="24688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36592" y="1060704"/>
            <a:ext cx="41513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 PEP 8 STYLE GUIDE — Naming Conventions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736592" y="1389888"/>
            <a:ext cx="4151376" cy="237744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73168" y="1389888"/>
            <a:ext cx="4078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snake_case  — Variables &amp; functions → all lowercase, words separated by _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36592" y="166420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</a:rPr>
              <a:t>✅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992624" y="1645920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user_age   total_price   is_active   first_name   max_retries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736592" y="188366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</a:rPr>
              <a:t>❌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992624" y="1865376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userAge   TotalPrice   IsActive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736592" y="2194560"/>
            <a:ext cx="4151376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36592" y="2267712"/>
            <a:ext cx="4151376" cy="237744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73168" y="2267712"/>
            <a:ext cx="4078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UPPER_CASE  — Constants → ALL CAPS, underscores between words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736592" y="254203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</a:rPr>
              <a:t>✅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992624" y="2523744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MAX_SIZE   PI   BASE_URL   DEFAULT_TIMEOUT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736592" y="276148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</a:rPr>
              <a:t>❌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992624" y="2743200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maxSize   pi   baseUrl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736592" y="3072384"/>
            <a:ext cx="4151376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736592" y="3145536"/>
            <a:ext cx="4151376" cy="23774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73168" y="3145536"/>
            <a:ext cx="4078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PascalCase  — Class names → each word capitalised (not for variables)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736592" y="3419856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</a:rPr>
              <a:t>✅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992624" y="3401568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BankAccount   StudentRecord   HttpClient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4736592" y="36393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</a:rPr>
              <a:t>❌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992624" y="3621024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bankAccount   student_record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736592" y="3950208"/>
            <a:ext cx="4151376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736592" y="4133088"/>
            <a:ext cx="4151376" cy="621792"/>
          </a:xfrm>
          <a:prstGeom prst="rect">
            <a:avLst/>
          </a:prstGeom>
          <a:solidFill>
            <a:srgbClr val="0A1628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736592" y="4133088"/>
            <a:ext cx="64008" cy="62179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846320" y="416966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More tips: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846320" y="44256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single letters (x, n) except loop counters  ·  Be descriptive:  user_score  beats  us  ·  No abbrevs you won't remember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&amp; Data Types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75320" y="0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4992624"/>
            <a:ext cx="914400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5029200"/>
            <a:ext cx="8595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Course  ·  Variables  ·  github.com/reachsatyavs/python-tutorials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256032" y="786384"/>
            <a:ext cx="8631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variable points to an object in memory.  The data type of that object determines what you can do with it.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64592" y="1078992"/>
            <a:ext cx="1627632" cy="2084832"/>
          </a:xfrm>
          <a:prstGeom prst="rect">
            <a:avLst/>
          </a:prstGeom>
          <a:solidFill>
            <a:srgbClr val="1E293B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" y="1078992"/>
            <a:ext cx="1627632" cy="6400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4592" y="1161288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56032" y="1536192"/>
            <a:ext cx="1444752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" y="1536192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048256"/>
            <a:ext cx="1225296" cy="2743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048256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64592" y="2377440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number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64592" y="26334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= 25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920240" y="1078992"/>
            <a:ext cx="1627632" cy="2084832"/>
          </a:xfrm>
          <a:prstGeom prst="rect">
            <a:avLst/>
          </a:prstGeom>
          <a:solidFill>
            <a:srgbClr val="1E293B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20240" y="1078992"/>
            <a:ext cx="1627632" cy="6400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20240" y="1161288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011680" y="1536192"/>
            <a:ext cx="1444752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11680" y="1536192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9.99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121408" y="2048256"/>
            <a:ext cx="1225296" cy="27432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21408" y="2048256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920240" y="2377440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decimal number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0240" y="26334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 = 9.99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75888" y="1078992"/>
            <a:ext cx="1627632" cy="2084832"/>
          </a:xfrm>
          <a:prstGeom prst="rect">
            <a:avLst/>
          </a:prstGeom>
          <a:solidFill>
            <a:srgbClr val="1E293B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75888" y="1078992"/>
            <a:ext cx="1627632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75888" y="1161288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767328" y="1536192"/>
            <a:ext cx="1444752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67328" y="1536192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"London"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877056" y="2048256"/>
            <a:ext cx="1225296" cy="2743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2048256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675888" y="2377440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675888" y="26334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city = "London"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1627632" cy="2084832"/>
          </a:xfrm>
          <a:prstGeom prst="rect">
            <a:avLst/>
          </a:prstGeom>
          <a:solidFill>
            <a:srgbClr val="1E293B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31536" y="1078992"/>
            <a:ext cx="1627632" cy="6400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161288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5522976" y="1536192"/>
            <a:ext cx="1444752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22976" y="1536192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32704" y="2048256"/>
            <a:ext cx="1225296" cy="27432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32704" y="2048256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31536" y="2377440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or False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431536" y="26334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 = True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187184" y="1078992"/>
            <a:ext cx="1627632" cy="2084832"/>
          </a:xfrm>
          <a:prstGeom prst="rect">
            <a:avLst/>
          </a:prstGeom>
          <a:solidFill>
            <a:srgbClr val="1E293B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187184" y="1078992"/>
            <a:ext cx="1627632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87184" y="1161288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7278624" y="1536192"/>
            <a:ext cx="1444752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78624" y="1536192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[95,87,92]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388352" y="2048256"/>
            <a:ext cx="1225296" cy="2743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88352" y="2048256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187184" y="2377440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187184" y="26334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[95,87,92]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164592" y="3236976"/>
            <a:ext cx="2834640" cy="1481328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64592" y="3236976"/>
            <a:ext cx="2377440" cy="24688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64592" y="3236976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type with  type()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292608" y="3547872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= 25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print(type(age))    # &lt;class 'int'&gt;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print(id(age))      # memory address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= 'twenty-five'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print(type(age))    # &lt;class 'str'&gt;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3154680" y="3236976"/>
            <a:ext cx="2834640" cy="1481328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154680" y="3236976"/>
            <a:ext cx="3291840" cy="24688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154680" y="3236976"/>
            <a:ext cx="3291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Typing — type follows the value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3282696" y="3547872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10          # int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print(type(x))  # &lt;class 'int'&gt;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'hello'     # now str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print(type(x))  # &lt;class 'str'&gt;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[1, 2, 3]   # now list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6144768" y="3236976"/>
            <a:ext cx="2743200" cy="1481328"/>
          </a:xfrm>
          <a:prstGeom prst="rect">
            <a:avLst/>
          </a:prstGeom>
          <a:solidFill>
            <a:srgbClr val="1C140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144768" y="3236976"/>
            <a:ext cx="64008" cy="148132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272784" y="3291840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Key Rule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6272784" y="3602736"/>
            <a:ext cx="254203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type belongs to the </a:t>
            </a:r>
            <a:r>
              <a:rPr lang="en-US" sz="10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(value) —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to the 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name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variable is just a label.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point it at any object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any time.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0"/>
            <a:ext cx="2834640" cy="5143500"/>
          </a:xfrm>
          <a:prstGeom prst="rect">
            <a:avLst/>
          </a:prstGeom>
          <a:solidFill>
            <a:srgbClr val="162032"/>
          </a:solidFill>
          <a:ln w="12700">
            <a:solidFill>
              <a:srgbClr val="1620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00000"/>
                </a:solidFill>
              </a:rPr>
              <a:t>🐍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Data Types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57200" y="2423160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Python's type system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2944368"/>
            <a:ext cx="4206240" cy="36576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09067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Mutable  ·  Immutable  ·  Sequences  ·  Mappings  ·  Sets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92240" y="5943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92240" y="107899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What is a Data Type?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0" y="1737360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Python Data Types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92240" y="2395728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Mutable vs Immutable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7731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github.com/reachsatyavs/python-tutorials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Data Type?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75320" y="0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4992624"/>
            <a:ext cx="914400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5029200"/>
            <a:ext cx="8595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Course  ·  Data Types  ·  github.com/reachsatyavs/python-tutorials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256032" y="8229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6032" y="1170432"/>
            <a:ext cx="4023360" cy="36576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" y="1261872"/>
            <a:ext cx="40233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type tells Python what kind of value a variable holds, and governs: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operations are valid on the value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memory to reserve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value can be changed in place (mutability)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it can be used as a dictionary key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56032" y="2761488"/>
            <a:ext cx="4023360" cy="1243584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852928"/>
            <a:ext cx="376732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   = 42          # int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'Alice'     # str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   = 3.14        # float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flag = True        # bool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[1, 2, 3]   # list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34840" y="804672"/>
            <a:ext cx="27432" cy="41148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6864" y="822960"/>
            <a:ext cx="42611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Data Types Matter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26864" y="1170432"/>
            <a:ext cx="4261104" cy="36576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26864" y="1298448"/>
            <a:ext cx="4261104" cy="749808"/>
          </a:xfrm>
          <a:prstGeom prst="rect">
            <a:avLst/>
          </a:prstGeom>
          <a:solidFill>
            <a:srgbClr val="1E293B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26864" y="1298448"/>
            <a:ext cx="54864" cy="74980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6592" y="1408176"/>
            <a:ext cx="475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266944" y="137160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efficiency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66944" y="1682496"/>
            <a:ext cx="3511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allocates exactly the right amount of memory for each type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26864" y="2121408"/>
            <a:ext cx="4261104" cy="749808"/>
          </a:xfrm>
          <a:prstGeom prst="rect">
            <a:avLst/>
          </a:prstGeom>
          <a:solidFill>
            <a:srgbClr val="1E293B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26864" y="2121408"/>
            <a:ext cx="54864" cy="7498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36592" y="2231136"/>
            <a:ext cx="475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266944" y="219456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operations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66944" y="2505456"/>
            <a:ext cx="3511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'hi' * 2 works;  'hi' + 2 raises TypeError — types enforce correctness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26864" y="2944368"/>
            <a:ext cx="4261104" cy="749808"/>
          </a:xfrm>
          <a:prstGeom prst="rect">
            <a:avLst/>
          </a:prstGeom>
          <a:solidFill>
            <a:srgbClr val="1E293B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26864" y="2944368"/>
            <a:ext cx="54864" cy="74980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36592" y="3054096"/>
            <a:ext cx="475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266944" y="30175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Dictionary keys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266944" y="3328416"/>
            <a:ext cx="3511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immutable (hashable) types can be used as dict keys or set elements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626864" y="3767328"/>
            <a:ext cx="4261104" cy="749808"/>
          </a:xfrm>
          <a:prstGeom prst="rect">
            <a:avLst/>
          </a:prstGeom>
          <a:solidFill>
            <a:srgbClr val="1E293B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26864" y="3767328"/>
            <a:ext cx="54864" cy="7498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36592" y="3877056"/>
            <a:ext cx="475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5266944" y="384048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66944" y="4151376"/>
            <a:ext cx="3511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type (set vs list for lookups) can be 10-100× faster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Built-In Data Types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75320" y="0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4992624"/>
            <a:ext cx="914400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5029200"/>
            <a:ext cx="8595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Course  ·  Data Types  ·  github.com/reachsatyavs/python-tutorials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256032" y="786384"/>
            <a:ext cx="8631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provides 14 built-in types, grouped into 5 categories  (source: DataTypes.md)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1060704"/>
          <a:ext cx="8631936" cy="3922776"/>
        </p:xfrm>
        <a:graphic>
          <a:graphicData uri="http://schemas.openxmlformats.org/drawingml/2006/table">
            <a:tbl>
              <a:tblPr/>
              <a:tblGrid>
                <a:gridCol w="10789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0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910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1F5F9"/>
                          </a:solidFill>
                        </a:rPr>
                        <a:t>Type</a:t>
                      </a:r>
                      <a:endParaRPr lang="en-US" sz="105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1F5F9"/>
                          </a:solidFill>
                        </a:rPr>
                        <a:t>Category</a:t>
                      </a:r>
                      <a:endParaRPr lang="en-US" sz="105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1F5F9"/>
                          </a:solidFill>
                        </a:rPr>
                        <a:t>Mutable?</a:t>
                      </a:r>
                      <a:endParaRPr lang="en-US" sz="105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1F5F9"/>
                          </a:solidFill>
                        </a:rPr>
                        <a:t>Syntax Example</a:t>
                      </a:r>
                      <a:endParaRPr lang="en-US" sz="105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1F5F9"/>
                          </a:solidFill>
                        </a:rPr>
                        <a:t>Common Use</a:t>
                      </a:r>
                      <a:endParaRPr lang="en-US" sz="105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BBF2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Numeric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❌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 = 42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Counting, indexing, arithmetic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BBF2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float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Numeric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❌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 = 3.14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Scientific &amp; decimal calculations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BBF2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complex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Numeric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❌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 = 1 + 2j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Engineering, signal processing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4D39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Sequence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❌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"hello"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Text processing, I/O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Sequence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4D399"/>
                          </a:solidFill>
                        </a:rPr>
                        <a:t>✅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[1, 2, 3]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Dynamic ordered collections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78B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tuple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Sequence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❌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(1, 2, 3)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Fixed data, dict keys, coordinates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bytes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Sequence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❌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b"hello"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Binary data, networking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dict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Mapping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4D399"/>
                          </a:solidFill>
                        </a:rPr>
                        <a:t>✅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{"a": 1}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Fast lookup, structured data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8717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Set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4D399"/>
                          </a:solidFill>
                        </a:rPr>
                        <a:t>✅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{1, 2, 3}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Unique items, fast membership tests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8717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frozenset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Set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❌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frozenset([1,2])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Immutable set, hashable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BBF2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bool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Boolean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❌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True / False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Conditional logic, flags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NoneType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None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❌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 = None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</a:rPr>
                        <a:t>Absent / optional value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Mutable vs Immutable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75320" y="0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4992624"/>
            <a:ext cx="914400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5029200"/>
            <a:ext cx="8595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Course  ·  Data Types  ·  github.com/reachsatyavs/python-tutorials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56032" y="804672"/>
            <a:ext cx="4114800" cy="29260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80467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IMMUTABLE — cannot change in place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56032" y="1152144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value cannot be changed after creation.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attempt to modify it creates a NEW object.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6032" y="1719072"/>
            <a:ext cx="4114800" cy="1024128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810512"/>
            <a:ext cx="38587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10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print(id(x))   # e.g. 140450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x + 1      # creates NEW int object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print(id(x))   # DIFFERENT id — new object!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56032" y="28346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Types:  int · float · complex · str · tuple · bool · frozenset · bytes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56032" y="31821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56032" y="3474720"/>
            <a:ext cx="411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 use as dictionary keys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— can be shared without locks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Memory-efficient — Python caches small ints &amp; strings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53712" y="804672"/>
            <a:ext cx="27432" cy="41148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73168" y="804672"/>
            <a:ext cx="4114800" cy="2926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73168" y="80467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MUTABLE — can change in place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73168" y="1152144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value CAN be modified after creation.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object in memory is updated directly.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73168" y="1719072"/>
            <a:ext cx="4114800" cy="1024128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01184" y="1810512"/>
            <a:ext cx="38587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[1, 2, 3]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print(id(nums))   # e.g. 140700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nums.append(4)    # modifies in place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print(id(nums))   # SAME id — same object!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73168" y="28346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Types:  list · dict · set · bytearray · custom objects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73168" y="31821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773168" y="3474720"/>
            <a:ext cx="411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updates — no object recreation on every change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for dynamic, growing collections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in-place operations like append(), update()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56032" y="4370832"/>
            <a:ext cx="8631936" cy="530352"/>
          </a:xfrm>
          <a:prstGeom prst="rect">
            <a:avLst/>
          </a:prstGeom>
          <a:solidFill>
            <a:srgbClr val="1C140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6032" y="4370832"/>
            <a:ext cx="64008" cy="53035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2336" y="440740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Pitfall:  b = a  does NOT copy a list — both names point to the SAME object.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02336" y="4626864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 b = a.copy()  or  b = a[:]  for an independent copy.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7800" y="4407408"/>
            <a:ext cx="3547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[1,2,3];  b = a;  b.append(4)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print(a)  # [1,2,3,4] ← BOTH changed!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0916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489204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13716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String  (str)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75320" y="0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4992624"/>
            <a:ext cx="914400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5029200"/>
            <a:ext cx="8595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Course  ·  Data Types  ·  github.com/reachsatyavs/python-tutorials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17122" y="571206"/>
            <a:ext cx="1828800" cy="24688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7122" y="57120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17122" y="863814"/>
            <a:ext cx="369988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Storing &amp; processing text — names, messages, URLs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user input (input() always returns a string)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paths, config values, HTML/template rendering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ordered sequence of characters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17122" y="1622766"/>
            <a:ext cx="1131780" cy="215472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7122" y="1622766"/>
            <a:ext cx="1131780" cy="215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17122" y="1906230"/>
            <a:ext cx="4078224" cy="950976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5138" y="1997670"/>
            <a:ext cx="382219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'hello'            # single quotes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"world"            # double quotes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"""multi\nline"""  # triple quotes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f"Hi {name}!"     # f-string  (Python 3.6+)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r"C:\Users\docs"  # raw string (ignores \)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217122" y="2892615"/>
            <a:ext cx="1307527" cy="206613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5137" y="2870922"/>
            <a:ext cx="13075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17122" y="3146313"/>
            <a:ext cx="760781" cy="246888"/>
          </a:xfrm>
          <a:prstGeom prst="rect">
            <a:avLst/>
          </a:prstGeom>
          <a:solidFill>
            <a:srgbClr val="1E293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7122" y="3146313"/>
            <a:ext cx="76078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32767" y="3146313"/>
            <a:ext cx="760781" cy="246888"/>
          </a:xfrm>
          <a:prstGeom prst="rect">
            <a:avLst/>
          </a:prstGeom>
          <a:solidFill>
            <a:srgbClr val="1E293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2767" y="3146313"/>
            <a:ext cx="76078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848412" y="3146313"/>
            <a:ext cx="760781" cy="246888"/>
          </a:xfrm>
          <a:prstGeom prst="rect">
            <a:avLst/>
          </a:prstGeom>
          <a:solidFill>
            <a:srgbClr val="1E293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48412" y="3146313"/>
            <a:ext cx="76078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664056" y="3146313"/>
            <a:ext cx="760781" cy="246888"/>
          </a:xfrm>
          <a:prstGeom prst="rect">
            <a:avLst/>
          </a:prstGeom>
          <a:solidFill>
            <a:srgbClr val="1E293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64056" y="3146313"/>
            <a:ext cx="76078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Iterable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479701" y="3146313"/>
            <a:ext cx="760781" cy="246888"/>
          </a:xfrm>
          <a:prstGeom prst="rect">
            <a:avLst/>
          </a:prstGeom>
          <a:solidFill>
            <a:srgbClr val="1E293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9701" y="3146313"/>
            <a:ext cx="76078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17122" y="3460710"/>
            <a:ext cx="1235542" cy="18288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17122" y="3460710"/>
            <a:ext cx="10280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EXAMPLE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7356" y="3668883"/>
            <a:ext cx="4107990" cy="1166154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28600" y="3711099"/>
            <a:ext cx="3822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"Hello, World!"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print(s[0])                # H  (index)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print(s[0:5])              # Hello  (slice)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print(s[::-1])             # reversed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print(s.upper())           # HELLO, WORLD!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print(s.replace("Hello","Hi"))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print(s.split(", "))       # ['Hello','World!']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4462272" y="804672"/>
            <a:ext cx="27432" cy="41330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804672"/>
            <a:ext cx="3200400" cy="24688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0" y="804672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FUNCTIONS &amp; METHODS</a:t>
            </a:r>
            <a:endParaRPr lang="en-US" sz="8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/>
        </p:nvGraphicFramePr>
        <p:xfrm>
          <a:off x="4663440" y="1097280"/>
          <a:ext cx="4224528" cy="3275945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38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</a:rPr>
                        <a:t>Method / Function</a:t>
                      </a:r>
                      <a:endParaRPr lang="en-US" sz="95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</a:rPr>
                        <a:t>What it does</a:t>
                      </a:r>
                      <a:endParaRPr lang="en-US" sz="95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8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4D39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upper() / lower()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Convert to ALL CAPS or lowercase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8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4D39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strip()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Remove leading &amp; trailing whitespace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8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4D39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lstrip() / rstrip()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Remove left-only / right-only whitespace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8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4D39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split(sep)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Split on separator → returns a list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8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4D39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join(iterable)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Join list items into one string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8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4D39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replace(old, new)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Replace every occurrence of old with new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8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4D39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find(sub)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Index of first match; -1 if not found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8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4D39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index(sub)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Like find() but raises ValueError if absent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8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4D39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startswith(prefix)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True if string begins with prefix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8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4D39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endswith(suffix)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True if string ends with suffix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8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4D39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count(sub)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Count non-overlapping occurrences of sub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8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4D39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format() / f-str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Embed variables &amp; expressions into string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8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4D39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len(s)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Total number of characters in string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35" name="Shape 32"/>
          <p:cNvSpPr/>
          <p:nvPr/>
        </p:nvSpPr>
        <p:spPr>
          <a:xfrm>
            <a:off x="4663440" y="4425696"/>
            <a:ext cx="4224528" cy="475488"/>
          </a:xfrm>
          <a:prstGeom prst="rect">
            <a:avLst/>
          </a:prstGeom>
          <a:solidFill>
            <a:srgbClr val="0D1B2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63440" y="4425696"/>
            <a:ext cx="64008" cy="47548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809744" y="4453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string-examples.py</a:t>
            </a:r>
            <a:endParaRPr lang="en-US" sz="1100" dirty="0"/>
          </a:p>
        </p:txBody>
      </p:sp>
      <p:sp>
        <p:nvSpPr>
          <p:cNvPr id="38" name="Text 35">
            <a:hlinkClick r:id="rId3"/>
          </p:cNvPr>
          <p:cNvSpPr/>
          <p:nvPr/>
        </p:nvSpPr>
        <p:spPr>
          <a:xfrm>
            <a:off x="4809744" y="4663440"/>
            <a:ext cx="4041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u="sng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https://github.com/reachsatyavs/python-tutorials/blob/main/dataTypes/string-examples.py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372"/>
            <a:ext cx="9144000" cy="41605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44001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26297"/>
            <a:ext cx="804672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Tuple  (tuple)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0" y="4992624"/>
            <a:ext cx="914400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5029200"/>
            <a:ext cx="8595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Course  ·  Data Types  ·  github.com/reachsatyavs/python-tutorials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52272" y="473933"/>
            <a:ext cx="1365245" cy="140691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442284"/>
            <a:ext cx="770250" cy="185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56032" y="812616"/>
            <a:ext cx="34664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data that must NOT change after creation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 multiple values from a function cleanly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Dictionary keys — tuples are hashable, lists are NOT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Coordinates, RGB values, named records (namedtuple)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70480" y="1460709"/>
            <a:ext cx="688607" cy="160065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742" y="1460708"/>
            <a:ext cx="814209" cy="160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64592" y="1645214"/>
            <a:ext cx="4078224" cy="1171209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0637" y="1706783"/>
            <a:ext cx="382219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(1, 2, 3)            # standard tuple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(42,)                # single-element — comma is required!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()                   # empty tuple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tuple([1, 2, 3])     # convert list → tuple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a, b, c = (10, 20, 30)   # tuple unpacking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a, *rest = (1, 2, 3, 4)  # extended unpacking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256032" y="2814797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079641" y="2873945"/>
            <a:ext cx="617395" cy="239054"/>
          </a:xfrm>
          <a:prstGeom prst="rect">
            <a:avLst/>
          </a:prstGeom>
          <a:solidFill>
            <a:srgbClr val="1E293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79641" y="2873945"/>
            <a:ext cx="617395" cy="239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720188" y="2873945"/>
            <a:ext cx="617395" cy="239054"/>
          </a:xfrm>
          <a:prstGeom prst="rect">
            <a:avLst/>
          </a:prstGeom>
          <a:solidFill>
            <a:srgbClr val="1E293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20188" y="2873945"/>
            <a:ext cx="617395" cy="239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347765" y="2873945"/>
            <a:ext cx="617395" cy="239054"/>
          </a:xfrm>
          <a:prstGeom prst="rect">
            <a:avLst/>
          </a:prstGeom>
          <a:solidFill>
            <a:srgbClr val="1E293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347765" y="2873945"/>
            <a:ext cx="617395" cy="239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981824" y="2873945"/>
            <a:ext cx="617395" cy="239054"/>
          </a:xfrm>
          <a:prstGeom prst="rect">
            <a:avLst/>
          </a:prstGeom>
          <a:solidFill>
            <a:srgbClr val="1E293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81824" y="2873945"/>
            <a:ext cx="617395" cy="239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Iterable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622371" y="2873945"/>
            <a:ext cx="617395" cy="239054"/>
          </a:xfrm>
          <a:prstGeom prst="rect">
            <a:avLst/>
          </a:prstGeom>
          <a:solidFill>
            <a:srgbClr val="1E293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22371" y="2873945"/>
            <a:ext cx="617395" cy="239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Hashable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94489" y="3418236"/>
            <a:ext cx="4123619" cy="1531001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3803" y="3447288"/>
            <a:ext cx="3822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('Alice', 30, 'London')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 age, city = t     # unpack all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print(name, age)        # Alice  30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print(t[0])             # Alice  (index)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print('Alice' in t)     # True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As dict key (list raises TypeError!)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coords = {(51.5, -0.1): 'London'}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x, y = 5, 10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x, y = y, x             # swap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print(x, y)             # 10  5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4462272" y="473933"/>
            <a:ext cx="27432" cy="41330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56955" y="467448"/>
            <a:ext cx="3200400" cy="24688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6955" y="467448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FUNCTIONS &amp; METHODS</a:t>
            </a:r>
            <a:endParaRPr lang="en-US" sz="8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/>
        </p:nvGraphicFramePr>
        <p:xfrm>
          <a:off x="4645152" y="780709"/>
          <a:ext cx="4224528" cy="343662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82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</a:rPr>
                        <a:t>Method / Function</a:t>
                      </a:r>
                      <a:endParaRPr lang="en-US" sz="95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</a:rPr>
                        <a:t>What it does</a:t>
                      </a:r>
                      <a:endParaRPr lang="en-US" sz="95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2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A78B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count(x)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Number of times x appears in the tuple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82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A78B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index(x)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Index of first occurrence of x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82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A78B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len(t)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Number of elements in the tuple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82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A78B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max(t) / min(t)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Largest / smallest element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82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A78B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sum(t)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Sum of all numeric elements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82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A78B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sorted(t)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Returns a new sorted list (not a tuple)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82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A78B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tuple(iterable)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Convert any iterable → tuple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2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A78B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zip(a, b)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Pair elements from two iterables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2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A78B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a, b = t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Unpack tuple into named variables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82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A78B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a, *rest = t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Extended unpack — rest becomes a list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82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A78B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t1 + t2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Concatenate two tuples → new tuple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82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A78B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* n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Repeat tuple n times → new tuple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82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A78B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 in t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True / False membership test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82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A78B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namedtuple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Tuple with named fields (collections)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5" name="Shape 32"/>
          <p:cNvSpPr/>
          <p:nvPr/>
        </p:nvSpPr>
        <p:spPr>
          <a:xfrm>
            <a:off x="4654298" y="4308769"/>
            <a:ext cx="4224528" cy="475488"/>
          </a:xfrm>
          <a:prstGeom prst="rect">
            <a:avLst/>
          </a:prstGeom>
          <a:solidFill>
            <a:srgbClr val="0D1B2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794115" y="435254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tuple-example.py</a:t>
            </a:r>
            <a:endParaRPr lang="en-US" sz="1100" dirty="0"/>
          </a:p>
        </p:txBody>
      </p:sp>
      <p:sp>
        <p:nvSpPr>
          <p:cNvPr id="38" name="Text 35">
            <a:hlinkClick r:id="rId3"/>
          </p:cNvPr>
          <p:cNvSpPr/>
          <p:nvPr/>
        </p:nvSpPr>
        <p:spPr>
          <a:xfrm>
            <a:off x="4794115" y="4568401"/>
            <a:ext cx="4041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u="sng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https://github.com/reachsatyavs/python-tutorials/blob/main/dataTypes/tuple-example.py</a:t>
            </a:r>
            <a:endParaRPr lang="en-US" sz="750" dirty="0"/>
          </a:p>
        </p:txBody>
      </p:sp>
      <p:sp>
        <p:nvSpPr>
          <p:cNvPr id="40" name="Shape 9">
            <a:extLst>
              <a:ext uri="{FF2B5EF4-FFF2-40B4-BE49-F238E27FC236}">
                <a16:creationId xmlns:a16="http://schemas.microsoft.com/office/drawing/2014/main" id="{AABD550F-BAF8-2C06-6BC4-9C05DC11BEAC}"/>
              </a:ext>
            </a:extLst>
          </p:cNvPr>
          <p:cNvSpPr/>
          <p:nvPr/>
        </p:nvSpPr>
        <p:spPr>
          <a:xfrm>
            <a:off x="122999" y="3188669"/>
            <a:ext cx="903283" cy="19481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1" name="Text 10">
            <a:extLst>
              <a:ext uri="{FF2B5EF4-FFF2-40B4-BE49-F238E27FC236}">
                <a16:creationId xmlns:a16="http://schemas.microsoft.com/office/drawing/2014/main" id="{E0065AD3-A5B2-ACB8-628A-08FCDA4636F1}"/>
              </a:ext>
            </a:extLst>
          </p:cNvPr>
          <p:cNvSpPr/>
          <p:nvPr/>
        </p:nvSpPr>
        <p:spPr>
          <a:xfrm>
            <a:off x="117111" y="3188668"/>
            <a:ext cx="861690" cy="1856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EXAMPLES</a:t>
            </a:r>
            <a:endParaRPr lang="en-US" sz="850" dirty="0"/>
          </a:p>
        </p:txBody>
      </p:sp>
      <p:sp>
        <p:nvSpPr>
          <p:cNvPr id="42" name="Shape 9">
            <a:extLst>
              <a:ext uri="{FF2B5EF4-FFF2-40B4-BE49-F238E27FC236}">
                <a16:creationId xmlns:a16="http://schemas.microsoft.com/office/drawing/2014/main" id="{CE4F93B0-8567-F34D-74B1-AE530A0AF6D3}"/>
              </a:ext>
            </a:extLst>
          </p:cNvPr>
          <p:cNvSpPr/>
          <p:nvPr/>
        </p:nvSpPr>
        <p:spPr>
          <a:xfrm>
            <a:off x="131479" y="2891060"/>
            <a:ext cx="895029" cy="221939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4" name="Text 10">
            <a:extLst>
              <a:ext uri="{FF2B5EF4-FFF2-40B4-BE49-F238E27FC236}">
                <a16:creationId xmlns:a16="http://schemas.microsoft.com/office/drawing/2014/main" id="{BE4AE3E5-70F7-741D-707E-1D692EF6DC4B}"/>
              </a:ext>
            </a:extLst>
          </p:cNvPr>
          <p:cNvSpPr/>
          <p:nvPr/>
        </p:nvSpPr>
        <p:spPr>
          <a:xfrm>
            <a:off x="99742" y="2891059"/>
            <a:ext cx="926540" cy="2306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686800" cy="4297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56362" cy="42976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76443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🗂️  Dictionary  (dict)  — Part 1 of 2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0" y="4992624"/>
            <a:ext cx="914400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5029200"/>
            <a:ext cx="8595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Course  ·  Data Types  ·  github.com/reachsatyavs/python-tutorials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01168" y="603504"/>
            <a:ext cx="1828800" cy="24688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1168" y="60350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01168" y="896112"/>
            <a:ext cx="40782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key → value lookups — O(1) average time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Storing structured data (JSON-like records)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/ grouping — frequency tables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Caching, config values, mapping relationships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" y="1655064"/>
            <a:ext cx="1371600" cy="24688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1168" y="1655064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01168" y="1938528"/>
            <a:ext cx="4078224" cy="950976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" y="2029968"/>
            <a:ext cx="382219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{'name':'Alice','age':30} # literal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{}                        # empty dict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dict(name='Alice',age=30) # keyword args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{k:v for k,v in pairs}   # comprehension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d['city'] = 'London'          # add / update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201168" y="2944368"/>
            <a:ext cx="2194560" cy="24688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1168" y="2944368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01168" y="3236976"/>
            <a:ext cx="751637" cy="246888"/>
          </a:xfrm>
          <a:prstGeom prst="rect">
            <a:avLst/>
          </a:prstGeom>
          <a:solidFill>
            <a:srgbClr val="1E293B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1168" y="3236976"/>
            <a:ext cx="75163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Mutable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16813" y="3236976"/>
            <a:ext cx="751637" cy="246888"/>
          </a:xfrm>
          <a:prstGeom prst="rect">
            <a:avLst/>
          </a:prstGeom>
          <a:solidFill>
            <a:srgbClr val="1E293B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6813" y="3236976"/>
            <a:ext cx="75163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(3.7+)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832458" y="3236976"/>
            <a:ext cx="751637" cy="246888"/>
          </a:xfrm>
          <a:prstGeom prst="rect">
            <a:avLst/>
          </a:prstGeom>
          <a:solidFill>
            <a:srgbClr val="1E293B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32458" y="3236976"/>
            <a:ext cx="75163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Key→Value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648102" y="3236976"/>
            <a:ext cx="751637" cy="246888"/>
          </a:xfrm>
          <a:prstGeom prst="rect">
            <a:avLst/>
          </a:prstGeom>
          <a:solidFill>
            <a:srgbClr val="1E293B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48102" y="3236976"/>
            <a:ext cx="75163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Unique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463747" y="3236976"/>
            <a:ext cx="751637" cy="246888"/>
          </a:xfrm>
          <a:prstGeom prst="rect">
            <a:avLst/>
          </a:prstGeom>
          <a:solidFill>
            <a:srgbClr val="1E293B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63747" y="3236976"/>
            <a:ext cx="75163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Immutable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01168" y="3529584"/>
            <a:ext cx="1828800" cy="24688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1168" y="352958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EXAMPLE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01168" y="3803904"/>
            <a:ext cx="4078224" cy="1152144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" y="3895344"/>
            <a:ext cx="38221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{'name':'Alice','age':30}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print(d['name'])           # Alice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print(d.get('city','N/A')) # N/A  (safe)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d['city'] = 'London'       # add key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d.update({'age':31})       # update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k, v in d.items():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print(f'{k}: {v}')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4462272" y="960120"/>
            <a:ext cx="27432" cy="41330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585216"/>
            <a:ext cx="2926080" cy="24688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0" y="585216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ACCESSING &amp; MODIFYING</a:t>
            </a:r>
            <a:endParaRPr lang="en-US" sz="8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028378"/>
              </p:ext>
            </p:extLst>
          </p:nvPr>
        </p:nvGraphicFramePr>
        <p:xfrm>
          <a:off x="4663440" y="877824"/>
          <a:ext cx="4224528" cy="327355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18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</a:rPr>
                        <a:t>Method / Function</a:t>
                      </a:r>
                      <a:endParaRPr lang="en-US" sz="95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</a:rPr>
                        <a:t>What it does</a:t>
                      </a:r>
                      <a:endParaRPr lang="en-US" sz="95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8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d[key]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Get value; raises KeyError if key missing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8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d.get(key,default)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Get value; returns default if key absent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8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d[key] = value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Add a new key or update existing key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8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del d[key]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Delete a key-value pair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18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d.pop(key)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Remove key and return its value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8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d.pop(key,default)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Remove key safely; returns default if absent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8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d.update(other)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Merge other dict in place (overwrites dupes)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18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d.setdefault(k,v)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Set key only if it doesn't already exist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18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d.clear()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Remove all items from the dictionary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18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{**d1, **d2}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Merge two dicts into a new dict (Python 3.5+)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18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d1 | d2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Merge operator → new dict (Python 3.9+)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18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d1 |= d2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In-place merge (Python 3.9+)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5" name="Shape 32"/>
          <p:cNvSpPr/>
          <p:nvPr/>
        </p:nvSpPr>
        <p:spPr>
          <a:xfrm>
            <a:off x="4663440" y="4206240"/>
            <a:ext cx="4224528" cy="475488"/>
          </a:xfrm>
          <a:prstGeom prst="rect">
            <a:avLst/>
          </a:prstGeom>
          <a:solidFill>
            <a:srgbClr val="0D1B2A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63440" y="4206240"/>
            <a:ext cx="64008" cy="47548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809744" y="42336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dist-examples.py</a:t>
            </a:r>
            <a:endParaRPr lang="en-US" sz="1100" dirty="0"/>
          </a:p>
        </p:txBody>
      </p:sp>
      <p:sp>
        <p:nvSpPr>
          <p:cNvPr id="38" name="Text 35">
            <a:hlinkClick r:id="rId3"/>
          </p:cNvPr>
          <p:cNvSpPr/>
          <p:nvPr/>
        </p:nvSpPr>
        <p:spPr>
          <a:xfrm>
            <a:off x="4809744" y="4443984"/>
            <a:ext cx="4041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u="sng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https://github.com/reachsatyavs/python-tutorials/blob/main/dataTypes/dist-examples.py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631936" cy="475486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" y="0"/>
            <a:ext cx="155374" cy="475486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7596104" cy="475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🗂️  Dictionary  (dict)  — Part 2 of 2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0" y="4992624"/>
            <a:ext cx="914400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5029200"/>
            <a:ext cx="8595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Course  ·  Data Types  ·  github.com/reachsatyavs/python-tutorials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01168" y="475488"/>
            <a:ext cx="2743200" cy="24688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1168" y="475488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ITERATING A DICTIONARY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8723778"/>
              </p:ext>
            </p:extLst>
          </p:nvPr>
        </p:nvGraphicFramePr>
        <p:xfrm>
          <a:off x="201168" y="768097"/>
          <a:ext cx="4078224" cy="266916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0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593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</a:rPr>
                        <a:t>Method / Function</a:t>
                      </a:r>
                      <a:endParaRPr lang="en-US" sz="95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</a:rPr>
                        <a:t>What it does</a:t>
                      </a:r>
                      <a:endParaRPr lang="en-US" sz="95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593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d.keys()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View of all keys — iterate or convert to list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593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d.values()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View of all values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8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d.items()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(key, value) pairs — most common in for loops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593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 k in d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Iterates over keys (same as d.keys())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593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 k,v in d.items()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Most Pythonic way to loop key+value pairs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593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sorted(d.keys())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Iterate keys in alphabetical order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593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len(d)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Number of key-value pairs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593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key in d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True/False membership test on KEYS — O(1)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593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val in d.values()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Membership test on VALUES — O(n)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192024" y="3566160"/>
            <a:ext cx="2560320" cy="24688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92024" y="3566160"/>
            <a:ext cx="2560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 COMPREHENSION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192024" y="3840480"/>
            <a:ext cx="4078224" cy="512064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0040" y="3931920"/>
            <a:ext cx="3822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words = ['hello','hi','hey']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map word → its length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lens = {w: len(w) for w in words}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{'hello':5, 'hi':2, 'hey':3}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filter: keep only values &gt; 2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= {k:v for k,v in lens.items() if v&gt;2}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4407407" y="475488"/>
            <a:ext cx="45719" cy="4517136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54296" y="502920"/>
            <a:ext cx="2377440" cy="24688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54296" y="502920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PATTERNS</a:t>
            </a:r>
            <a:endParaRPr lang="en-US" sz="850" dirty="0"/>
          </a:p>
        </p:txBody>
      </p:sp>
      <p:graphicFrame>
        <p:nvGraphicFramePr>
          <p:cNvPr id="1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9072110"/>
              </p:ext>
            </p:extLst>
          </p:nvPr>
        </p:nvGraphicFramePr>
        <p:xfrm>
          <a:off x="4654296" y="795528"/>
          <a:ext cx="4187952" cy="1289305"/>
        </p:xfrm>
        <a:graphic>
          <a:graphicData uri="http://schemas.openxmlformats.org/drawingml/2006/table">
            <a:tbl>
              <a:tblPr/>
              <a:tblGrid>
                <a:gridCol w="17223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56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786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</a:rPr>
                        <a:t>Method / Function</a:t>
                      </a:r>
                      <a:endParaRPr lang="en-US" sz="95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</a:rPr>
                        <a:t>What it does</a:t>
                      </a:r>
                      <a:endParaRPr lang="en-US" sz="95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86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d.copy()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Shallow copy of the dictionary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786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dict(zip(k,v))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Build dict from two lists (keys &amp; values)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86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dict.fromkeys(k,v)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Create dict from a list of keys, same value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786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B92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sorted(d,key=...)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Sort dict items by key or value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4654296" y="2231136"/>
            <a:ext cx="3931920" cy="24688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654296" y="2231136"/>
            <a:ext cx="3931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DEFAULTDICT — auto-initialise missing keys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4654296" y="2505456"/>
            <a:ext cx="4233672" cy="1170432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782312" y="2596896"/>
            <a:ext cx="39684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collections import defaultdict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defaultdict(list)   # default value = []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d['fruits'].append('apple')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d['fruits'].append('mango')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d['vegs'].append('carrot')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print(dict(d))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{'fruits':['apple','mango'],'vegs':['carrot']}</a:t>
            </a:r>
            <a:endParaRPr lang="en-US" sz="980" dirty="0"/>
          </a:p>
        </p:txBody>
      </p:sp>
      <p:sp>
        <p:nvSpPr>
          <p:cNvPr id="23" name="Shape 19"/>
          <p:cNvSpPr/>
          <p:nvPr/>
        </p:nvSpPr>
        <p:spPr>
          <a:xfrm>
            <a:off x="4663440" y="3767328"/>
            <a:ext cx="3931920" cy="24688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663440" y="3767328"/>
            <a:ext cx="3931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 — count occurrences automatically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>
            <a:off x="4663440" y="4041648"/>
            <a:ext cx="4224528" cy="941832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791456" y="4133088"/>
            <a:ext cx="3968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collections import Counter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words = ['hi','bye','hi','hi','bye']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Counter(words)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print(c)            # Counter({'hi':3,'bye':2})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print(c.most_common(1))  # [('hi', 3)]</a:t>
            </a:r>
            <a:endParaRPr lang="en-US" sz="9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485632" cy="48463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52741" cy="48463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746735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List  (list)  — Part 1 of 2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75320" y="0"/>
            <a:ext cx="678851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4992624"/>
            <a:ext cx="914400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5029200"/>
            <a:ext cx="8595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Course  ·  Data Types  ·  github.com/reachsatyavs/python-tutorials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28600" y="530352"/>
            <a:ext cx="1828800" cy="24688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530352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822960"/>
            <a:ext cx="40782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collections that need to grow or shrink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indexing, slicing, or sorting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Storing a sequence of items of any type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general-purpose collection in Python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8600" y="1581912"/>
            <a:ext cx="1371600" cy="24688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" y="158191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28600" y="1865376"/>
            <a:ext cx="4078224" cy="950976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6616" y="1956816"/>
            <a:ext cx="382219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 = [1, 2, 3]           # integers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 = ['a', 'b', 'c']     # strings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 = [1, 'hi', True, 3.14]# mixed types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 = []                   # empty list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 = list(range(5))       # [0, 1, 2, 3, 4]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 = [x**2 for x in range(5)] # comprehension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228600" y="2880360"/>
            <a:ext cx="2194560" cy="24688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2871216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28600" y="3163824"/>
            <a:ext cx="751637" cy="246888"/>
          </a:xfrm>
          <a:prstGeom prst="rect">
            <a:avLst/>
          </a:prstGeom>
          <a:solidFill>
            <a:srgbClr val="1E293B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8600" y="3163824"/>
            <a:ext cx="75163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Mutable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44245" y="3163824"/>
            <a:ext cx="751637" cy="246888"/>
          </a:xfrm>
          <a:prstGeom prst="rect">
            <a:avLst/>
          </a:prstGeom>
          <a:solidFill>
            <a:srgbClr val="1E293B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4245" y="3163824"/>
            <a:ext cx="75163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859890" y="3163824"/>
            <a:ext cx="751637" cy="246888"/>
          </a:xfrm>
          <a:prstGeom prst="rect">
            <a:avLst/>
          </a:prstGeom>
          <a:solidFill>
            <a:srgbClr val="1E293B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59890" y="3163824"/>
            <a:ext cx="75163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675534" y="3163824"/>
            <a:ext cx="751637" cy="246888"/>
          </a:xfrm>
          <a:prstGeom prst="rect">
            <a:avLst/>
          </a:prstGeom>
          <a:solidFill>
            <a:srgbClr val="1E293B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5534" y="3163824"/>
            <a:ext cx="75163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Iterable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491179" y="3163824"/>
            <a:ext cx="751637" cy="246888"/>
          </a:xfrm>
          <a:prstGeom prst="rect">
            <a:avLst/>
          </a:prstGeom>
          <a:solidFill>
            <a:srgbClr val="1E293B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91179" y="3163824"/>
            <a:ext cx="75163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Allows Duplicates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28600" y="3456432"/>
            <a:ext cx="1828800" cy="24688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600" y="3456432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EXAMPLE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28600" y="3730752"/>
            <a:ext cx="4014216" cy="1170432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6616" y="3822192"/>
            <a:ext cx="38221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 = [3, 1, 4, 1, 5, 9]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print(lst[0])       # 3  (index)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print(lst[-1])      # 9  (last)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print(lst[1:4])     # [1, 4, 1]  (slice)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lst.append(2)       # add to end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lst.remove(1)       # remove first 1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lst.sort()          # sort in place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4434839" y="530352"/>
            <a:ext cx="45719" cy="43708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530352"/>
            <a:ext cx="2377440" cy="24688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0" y="530352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METHODS</a:t>
            </a:r>
            <a:endParaRPr lang="en-US" sz="8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8016554"/>
              </p:ext>
            </p:extLst>
          </p:nvPr>
        </p:nvGraphicFramePr>
        <p:xfrm>
          <a:off x="4654296" y="817301"/>
          <a:ext cx="4206240" cy="3482340"/>
        </p:xfrm>
        <a:graphic>
          <a:graphicData uri="http://schemas.openxmlformats.org/drawingml/2006/table">
            <a:tbl>
              <a:tblPr/>
              <a:tblGrid>
                <a:gridCol w="17298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64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82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</a:rPr>
                        <a:t>Method / Function</a:t>
                      </a:r>
                      <a:endParaRPr lang="en-US" sz="95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</a:rPr>
                        <a:t>What it does</a:t>
                      </a:r>
                      <a:endParaRPr lang="en-US" sz="95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00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append(x)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Add x to the END of the list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00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extend(iterable)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Add ALL items from iterable to the end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00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insert(i, x)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Insert x BEFORE element at index i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7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remove(x)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Remove FIRST occurrence of x; ValueError if absent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7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pop(i=-1)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Remove &amp; return element at index i (default: last)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00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clear()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Remove ALL elements — list becomes []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0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index(x)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Index of FIRST occurrence of x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0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count(x)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Number of times x appears in the list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600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sort(reverse=False)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Sort list IN PLACE; reverse=True for descending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600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reverse()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Reverse list IN PLACE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600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copy()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Return a SHALLOW copy of the list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600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len(lst)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Number of elements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600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 in lst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True/False membership test — O(n)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35" name="Shape 32"/>
          <p:cNvSpPr/>
          <p:nvPr/>
        </p:nvSpPr>
        <p:spPr>
          <a:xfrm>
            <a:off x="4663440" y="4389120"/>
            <a:ext cx="4224528" cy="475488"/>
          </a:xfrm>
          <a:prstGeom prst="rect">
            <a:avLst/>
          </a:prstGeom>
          <a:solidFill>
            <a:srgbClr val="0D1B2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63440" y="4389120"/>
            <a:ext cx="64008" cy="47548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809744" y="44165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list-example.py</a:t>
            </a:r>
            <a:endParaRPr lang="en-US" sz="1100" dirty="0"/>
          </a:p>
        </p:txBody>
      </p:sp>
      <p:sp>
        <p:nvSpPr>
          <p:cNvPr id="38" name="Text 35">
            <a:hlinkClick r:id="rId3"/>
          </p:cNvPr>
          <p:cNvSpPr/>
          <p:nvPr/>
        </p:nvSpPr>
        <p:spPr>
          <a:xfrm>
            <a:off x="4809744" y="4626864"/>
            <a:ext cx="4041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u="sng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https://github.com/reachsatyavs/python-tutorials/blob/main/dataTypes/list-example.py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15400" cy="420629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0477" cy="333756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784555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List  (list)  — Part 2 of 2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0" y="4992624"/>
            <a:ext cx="914400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5029200"/>
            <a:ext cx="8595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Course  ·  Data Types  ·  github.com/reachsatyavs/python-tutorials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37744" y="457200"/>
            <a:ext cx="3657600" cy="24688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7744" y="45720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SLICING  —  lst[start : stop : step]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37744" y="731520"/>
            <a:ext cx="4078224" cy="365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0896" y="7315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lst[1:4]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536192" y="731520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 at index 1, 2, 3  (stop is exclusive)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37744" y="1133856"/>
            <a:ext cx="4078224" cy="365760"/>
          </a:xfrm>
          <a:prstGeom prst="rect">
            <a:avLst/>
          </a:prstGeom>
          <a:solidFill>
            <a:srgbClr val="162032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0896" y="113385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lst[:3]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536192" y="1133856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3 elements  (start defaults to 0)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37744" y="1536192"/>
            <a:ext cx="4078224" cy="365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0896" y="15361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lst[2:]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536192" y="1536192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index 2 to the end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37744" y="1938528"/>
            <a:ext cx="4078224" cy="365760"/>
          </a:xfrm>
          <a:prstGeom prst="rect">
            <a:avLst/>
          </a:prstGeom>
          <a:solidFill>
            <a:srgbClr val="162032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0896" y="19385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lst[-3:]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536192" y="1938528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3 elements  (negative index counts from end)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37744" y="2340864"/>
            <a:ext cx="4078224" cy="365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0896" y="234086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lst[::2]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536192" y="2340864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second element  (step=2)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37744" y="2743200"/>
            <a:ext cx="4078224" cy="365760"/>
          </a:xfrm>
          <a:prstGeom prst="rect">
            <a:avLst/>
          </a:prstGeom>
          <a:solidFill>
            <a:srgbClr val="162032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0896" y="2743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lst[::-1]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536192" y="2743200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the entire list  (step=-1)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37744" y="3145536"/>
            <a:ext cx="4078224" cy="365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0896" y="314553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lst[1:7:2]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536192" y="3145536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 at index 1, 3, 5  (start:stop:step)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56032" y="3575304"/>
            <a:ext cx="2377440" cy="24688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6032" y="3575304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PATTERNS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56032" y="3849624"/>
            <a:ext cx="4078224" cy="1014984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3941064"/>
            <a:ext cx="3822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lst.sort()                   # in-place ascending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lst.sort(reverse=True)       # in-place descending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= sorted(lst)            # new list, original safe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sort by key (e.g. string length)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words.sort(key=len)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people.sort(key=lambda p: p['age'])</a:t>
            </a:r>
            <a:endParaRPr lang="en-US" sz="980" dirty="0"/>
          </a:p>
        </p:txBody>
      </p:sp>
      <p:sp>
        <p:nvSpPr>
          <p:cNvPr id="35" name="Shape 33"/>
          <p:cNvSpPr/>
          <p:nvPr/>
        </p:nvSpPr>
        <p:spPr>
          <a:xfrm>
            <a:off x="4462272" y="804672"/>
            <a:ext cx="27432" cy="41330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63440" y="73152"/>
            <a:ext cx="2743200" cy="24688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0" y="73152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COMPREHENSIONS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663440" y="347472"/>
            <a:ext cx="4224528" cy="1810512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91456" y="438912"/>
            <a:ext cx="3968496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Basic — square every number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squares = [x**2 for x in range(6)]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[0, 1, 4, 9, 16, 25]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With filter — even numbers only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evens = [x for x in range(10) if x%2==0]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[0, 2, 4, 6, 8]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Nested — flatten 2D list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matrix = [[1,2],[3,4],[5,6]]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flat = [n for row in matrix for n in row]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[1, 2, 3, 4, 5, 6]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194560"/>
            <a:ext cx="3474720" cy="24688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0" y="2194560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BUILT-IN FUNCTIONS ON LISTS</a:t>
            </a:r>
            <a:endParaRPr lang="en-US" sz="85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6174694"/>
              </p:ext>
            </p:extLst>
          </p:nvPr>
        </p:nvGraphicFramePr>
        <p:xfrm>
          <a:off x="4663440" y="2450593"/>
          <a:ext cx="4251960" cy="2522220"/>
        </p:xfrm>
        <a:graphic>
          <a:graphicData uri="http://schemas.openxmlformats.org/drawingml/2006/table">
            <a:tbl>
              <a:tblPr/>
              <a:tblGrid>
                <a:gridCol w="17486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33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52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</a:rPr>
                        <a:t>Method / Function</a:t>
                      </a:r>
                      <a:endParaRPr lang="en-US" sz="95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</a:rPr>
                        <a:t>What it does</a:t>
                      </a:r>
                      <a:endParaRPr lang="en-US" sz="95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2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sorted(lst)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Return new sorted list; original unchanged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2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reversed(lst)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Return reverse iterator (use list() to convert)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2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sum(lst)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Sum of all numeric elements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2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max(lst) / min(lst)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Largest / smallest element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2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zip(lst1, lst2)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Pair elements → iterator of tuples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2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enumerate(lst)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Yield (index, value) pairs for each element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2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filter(fn, lst)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Return items where fn(item) is True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2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map(fn, lst)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Apply fn to every item; return iterator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2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any(lst)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True if at least one element is truthy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2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0A5F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all(lst)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True if every element is truthy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3803</Words>
  <Application>Microsoft Macintosh PowerPoint</Application>
  <PresentationFormat>On-screen Show (16:9)</PresentationFormat>
  <Paragraphs>638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Data Types</dc:title>
  <dc:subject>PptxGenJS Presentation</dc:subject>
  <dc:creator>Python Tutorials</dc:creator>
  <cp:lastModifiedBy>Prasad VSV</cp:lastModifiedBy>
  <cp:revision>12</cp:revision>
  <dcterms:created xsi:type="dcterms:W3CDTF">2026-04-06T10:10:48Z</dcterms:created>
  <dcterms:modified xsi:type="dcterms:W3CDTF">2026-04-06T15:10:04Z</dcterms:modified>
</cp:coreProperties>
</file>