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0" r:id="rId2"/>
    <p:sldId id="261" r:id="rId3"/>
    <p:sldId id="262" r:id="rId4"/>
    <p:sldId id="256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5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44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dataTypes/string-examples.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dataTypes/tuple-example.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dataTypes/dist-examples.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dataTypes/list-example.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dataTypes/set-examples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Variable?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Variables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4041648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43584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label.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hold a value directly.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it points to a memory address, and that address holds the actual value (object).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139696"/>
            <a:ext cx="4041648" cy="259689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139696"/>
            <a:ext cx="192024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39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523744"/>
            <a:ext cx="1024128" cy="493776"/>
          </a:xfrm>
          <a:prstGeom prst="rect">
            <a:avLst/>
          </a:prstGeom>
          <a:solidFill>
            <a:srgbClr val="162D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523744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" y="30266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63040" y="2770632"/>
            <a:ext cx="3474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25968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828800" y="2523744"/>
            <a:ext cx="1188720" cy="493776"/>
          </a:xfrm>
          <a:prstGeom prst="rect">
            <a:avLst/>
          </a:prstGeom>
          <a:solidFill>
            <a:srgbClr val="1A1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523744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0x1A2B3C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30266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35808" y="2770632"/>
            <a:ext cx="34747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2384" y="25968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401568" y="2523744"/>
            <a:ext cx="713232" cy="493776"/>
          </a:xfrm>
          <a:prstGeom prst="rect">
            <a:avLst/>
          </a:prstGeom>
          <a:solidFill>
            <a:srgbClr val="0033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2523744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01568" y="30266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value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" y="3273552"/>
            <a:ext cx="3749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ot"/>
          </a:ln>
        </p:spPr>
      </p:sp>
      <p:sp>
        <p:nvSpPr>
          <p:cNvPr id="28" name="Shape 26"/>
          <p:cNvSpPr/>
          <p:nvPr/>
        </p:nvSpPr>
        <p:spPr>
          <a:xfrm>
            <a:off x="420624" y="3401568"/>
            <a:ext cx="1024128" cy="493776"/>
          </a:xfrm>
          <a:prstGeom prst="rect">
            <a:avLst/>
          </a:prstGeom>
          <a:solidFill>
            <a:srgbClr val="162D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401568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" y="39044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463040" y="3648456"/>
            <a:ext cx="3474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9616" y="34747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828800" y="3401568"/>
            <a:ext cx="1188720" cy="493776"/>
          </a:xfrm>
          <a:prstGeom prst="rect">
            <a:avLst/>
          </a:prstGeom>
          <a:solidFill>
            <a:srgbClr val="1A1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40156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0x4D5E6F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3904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35808" y="3648456"/>
            <a:ext cx="347472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72384" y="34747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401568" y="3401568"/>
            <a:ext cx="713232" cy="493776"/>
          </a:xfrm>
          <a:prstGeom prst="rect">
            <a:avLst/>
          </a:prstGeom>
          <a:solidFill>
            <a:srgbClr val="1A0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401568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01568" y="3904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value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0624" y="464515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28800" y="4645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01568" y="46451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(object)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6227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Model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663440" y="1152144"/>
            <a:ext cx="42062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1280160"/>
            <a:ext cx="4224528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36592" y="1481328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12080" y="1335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 (name)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16093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write in code.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e, name, price, is_active 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program's namespace.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2231136"/>
            <a:ext cx="4224528" cy="804672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36592" y="2432304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1208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1208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slot in RAM where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stored.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id(x) shows this address in CPython.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63440" y="3182112"/>
            <a:ext cx="4224528" cy="804672"/>
          </a:xfrm>
          <a:prstGeom prst="rect">
            <a:avLst/>
          </a:prstGeom>
          <a:solidFill>
            <a:srgbClr val="00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338328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21208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(object)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12080" y="3511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— int 25,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'Alice', list [1,2,3] 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type, a value, and a ref-count.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4187952"/>
            <a:ext cx="4224528" cy="566928"/>
          </a:xfrm>
          <a:prstGeom prst="rect">
            <a:avLst/>
          </a:prstGeom>
          <a:solidFill>
            <a:srgbClr val="1C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4187952"/>
            <a:ext cx="64008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91456" y="422452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id(x) to see the memory address Python assigned to a variable: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91456" y="4462272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 ;  print(id(age))   # e.g.  140450123456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Naming Conventions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Variables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78638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enforces some rules, and PEP 8 adds recommended style conventions.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060704"/>
            <a:ext cx="411480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6070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 — must follow these rules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1408176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7160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(a–z, A–Z) or underscore  _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1810512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7739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letters, digits (0–9), and underscores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221284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7627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 age,  Age,  and  AGE  are three different variables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61518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57860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length limit — but keep names meaningful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035808"/>
            <a:ext cx="41148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127248"/>
            <a:ext cx="411480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1272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INVALID — causes SyntaxError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493008"/>
            <a:ext cx="1133856" cy="27432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4930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81328" y="3456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starts with a digit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3858768"/>
            <a:ext cx="1133856" cy="27432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8587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my-var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81328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hyphen is subtraction operator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4224528"/>
            <a:ext cx="1133856" cy="27432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2245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81328" y="41879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reserved Python keyword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4590288"/>
            <a:ext cx="1133856" cy="27432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5902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81328" y="45537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space not allowed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1027452"/>
            <a:ext cx="4151376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027452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PEP 8 STYLE GUIDE — Naming Conventions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36592" y="1348323"/>
            <a:ext cx="4151376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348323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 — Variables &amp; functions → all lowercase, words separated by _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1664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92624" y="16459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user_age   total_price   is_active   first_name   max_retries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36592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92624" y="18653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userAge   TotalPrice   IsActive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2194560"/>
            <a:ext cx="4151376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36592" y="2267712"/>
            <a:ext cx="4151376" cy="2377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26771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UPPER_CASE  — Constants → ALL CAPS, underscores between words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6592" y="25420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92624" y="2523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MAX_SIZE   PI   BASE_URL   DEFAULT_TIMEOUT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2761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92624" y="274320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   pi   baseUrl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36592" y="3072384"/>
            <a:ext cx="4151376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3145536"/>
            <a:ext cx="4151376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314553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 — Class names → each word capitalised (not for variables)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36592" y="34198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92624" y="34015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   StudentRecord   HttpClient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36592" y="36393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92624" y="362102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   student_record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36592" y="3950208"/>
            <a:ext cx="4151376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36592" y="4133088"/>
            <a:ext cx="4151376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36592" y="4133088"/>
            <a:ext cx="64008" cy="6217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4169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More tips: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4632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single letters (x, n) except loop counters  ·  Be descriptive:  user_score  beats  us  ·  No abbrevs you won't remember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Variables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78638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points to an object in memory.  The data type of that object determines what you can do with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078992"/>
            <a:ext cx="162763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1078992"/>
            <a:ext cx="1627632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612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1536192"/>
            <a:ext cx="14447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5361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48256"/>
            <a:ext cx="1225296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" y="2377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" y="26334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1078992"/>
            <a:ext cx="162763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1078992"/>
            <a:ext cx="1627632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11612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1536192"/>
            <a:ext cx="14447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15361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9.99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21408" y="2048256"/>
            <a:ext cx="1225296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2048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377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26334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9.99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75888" y="1078992"/>
            <a:ext cx="162763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1078992"/>
            <a:ext cx="162763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11612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767328" y="1536192"/>
            <a:ext cx="14447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15361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"London"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77056" y="2048256"/>
            <a:ext cx="122529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2048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75888" y="2377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75888" y="26334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"London"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31536" y="1078992"/>
            <a:ext cx="162763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31536" y="1078992"/>
            <a:ext cx="1627632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11612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522976" y="1536192"/>
            <a:ext cx="14447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15361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32704" y="2048256"/>
            <a:ext cx="122529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2048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31536" y="2377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31536" y="26334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True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87184" y="1078992"/>
            <a:ext cx="1627632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87184" y="1078992"/>
            <a:ext cx="162763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87184" y="11612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278624" y="1536192"/>
            <a:ext cx="14447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15361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[95,87,92]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88352" y="2048256"/>
            <a:ext cx="1225296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2048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87184" y="2377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87184" y="26334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[95,87,92]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" y="3236976"/>
            <a:ext cx="28346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4592" y="3236976"/>
            <a:ext cx="237744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32369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type with  type()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92608" y="354787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    # &lt;class 'int'&gt;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print(id(age))      # memory address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'twenty-five'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    # &lt;class 'str'&gt;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154680" y="3236976"/>
            <a:ext cx="28346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54680" y="3236976"/>
            <a:ext cx="329184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323697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— type follows the value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82696" y="354787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  #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  # &lt;class 'int'&gt;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'hello'     # now 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  # &lt;class 'str'&gt;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 2, 3]   # now list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3236976"/>
            <a:ext cx="2743200" cy="1481328"/>
          </a:xfrm>
          <a:prstGeom prst="rect">
            <a:avLst/>
          </a:prstGeom>
          <a:solidFill>
            <a:srgbClr val="1C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44768" y="3236976"/>
            <a:ext cx="64008" cy="14813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32918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Rule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72784" y="3602736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belongs to the </a:t>
            </a: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(value)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the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just a label.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point it at any object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🐍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Types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Python's type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944368"/>
            <a:ext cx="42062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906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 ·  Immutable  ·  Sequences  ·  Mappings  ·  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0789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a Data Type?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Python Data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957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Mutable vs Immutable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Type?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402336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61872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Python what kind of value a variable holds, and governs: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operations are valid on the value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memory to reserve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value can be changed in place (mutability)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can be used as a dictionary key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761488"/>
            <a:ext cx="4023360" cy="12435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852928"/>
            <a:ext cx="37673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  = 42          #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'Alice'     #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  = 3.14        # float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= True        # bool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   # list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22960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Types Matter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6864" y="1170432"/>
            <a:ext cx="4261104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298448"/>
            <a:ext cx="4261104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298448"/>
            <a:ext cx="54864" cy="7498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40817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66944" y="13716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66944" y="168249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allocates exactly the right amount of memory for each type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2121408"/>
            <a:ext cx="4261104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121408"/>
            <a:ext cx="5486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23113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66944" y="219456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operations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66944" y="250545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'hi' * 2 works;  'hi' + 2 raises TypeError — types enforce correctness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26864" y="2944368"/>
            <a:ext cx="4261104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2944368"/>
            <a:ext cx="54864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05409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66944" y="30175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keys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66944" y="332841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immutable (hashable) types can be used as dict keys or set elements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26864" y="3767328"/>
            <a:ext cx="4261104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3767328"/>
            <a:ext cx="54864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87705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66944" y="384048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66944" y="415137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type (set vs list for lookups) can be 10-100× faster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Data Types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35045"/>
              </p:ext>
            </p:extLst>
          </p:nvPr>
        </p:nvGraphicFramePr>
        <p:xfrm>
          <a:off x="256032" y="861198"/>
          <a:ext cx="8631936" cy="39227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3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Mutable?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Syntax Example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Common Use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42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Counting, indexing, arithmetic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3.14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Scientific &amp; decimal calculations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 = 1 + 2j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Engineering, signal processing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Sequence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"hello"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Text processing, I/O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Sequence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Dynamic ordered collections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Sequence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(1, 2, 3)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Fixed data, dict keys, coordinates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Sequence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b"hello"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Binary data, networking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Mapping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{"a": 1}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Fast lookup, structured data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2, 3} or s = set()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Unique items, fast membership tests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frozenset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Set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frozenset([1,2])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Immutable set, hashable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Boolean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Conditional logic, flags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None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Absent / optional value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114800" cy="2926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IMMUTABLE — cannot change in place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521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value cannot be changed after creation.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attempt to modify it creates a NEW object.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1148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10512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print(id(x))   # e.g. 140450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+ 1      # creates NEW int object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print(id(x))   # DIFFERENT id — new object!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 int · float · complex · str · tuple · bool · frozenset · bytes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" y="347472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use as dictionary keys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— can be shared without 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— Python caches small ints &amp; strings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804672"/>
            <a:ext cx="27432" cy="4114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804672"/>
            <a:ext cx="4114800" cy="2926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MUTABLE — can change in place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1521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value CAN be modified after creation.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 in memory is updated directly.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1719072"/>
            <a:ext cx="411480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810512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print(id(nums))   # e.g. 140700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nums.append(4)    # modifies in place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print(id(nums))   # SAME id — same object!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 list · dict · set · bytearray · custom objects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347472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updates — no object recreation on every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dynamic, growing collections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in-place operations like append(), update()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370832"/>
            <a:ext cx="8631936" cy="530352"/>
          </a:xfrm>
          <a:prstGeom prst="rect">
            <a:avLst/>
          </a:prstGeom>
          <a:solidFill>
            <a:srgbClr val="1C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370832"/>
            <a:ext cx="64008" cy="5303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407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Pitfall:  b = a  does NOT copy a list — both names point to the SAME object.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" y="46268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b = a.copy()  or  b = a[:]  for an independent copy.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44074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[1,2,3];  b = a;  b.append(4)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# [1,2,3,4] ← BOTH changed!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09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892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String  (str)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17122" y="571206"/>
            <a:ext cx="182880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122" y="57120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7122" y="863814"/>
            <a:ext cx="36998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&amp; processing text — names, messages, URLs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user input (input() always returns a string)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paths, config values, HTML/template rendering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ordered sequence of characters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122" y="1622766"/>
            <a:ext cx="1131780" cy="215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122" y="1622766"/>
            <a:ext cx="1131780" cy="21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7122" y="1906230"/>
            <a:ext cx="4078224" cy="95097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138" y="1997670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'hello'            # single quotes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"world"            # double quotes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"""multi\nline"""  # triple quotes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f"Hi {name}!"     # f-string  (Python 3.6+)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r"C:\Users\docs"  # raw string (ignores \)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17122" y="2892615"/>
            <a:ext cx="1307527" cy="206613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137" y="2870922"/>
            <a:ext cx="130752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7122" y="3146313"/>
            <a:ext cx="760781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122" y="3146313"/>
            <a:ext cx="7607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32767" y="3146313"/>
            <a:ext cx="760781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2767" y="3146313"/>
            <a:ext cx="7607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48412" y="3146313"/>
            <a:ext cx="760781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8412" y="3146313"/>
            <a:ext cx="7607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64056" y="3146313"/>
            <a:ext cx="760781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4056" y="3146313"/>
            <a:ext cx="7607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9701" y="3146313"/>
            <a:ext cx="760781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9701" y="3146313"/>
            <a:ext cx="7607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7122" y="3460710"/>
            <a:ext cx="123554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122" y="3460710"/>
            <a:ext cx="1028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7356" y="3668883"/>
            <a:ext cx="4107990" cy="116615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711099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"Hello, World!"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print(s[0])                # H  (index)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print(s[0:5])              # Hello  (slice)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print(s[::-1])             # reversed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print(s.upper())           # HELLO, WORLD!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print(s.replace("Hello","Hi"))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print(s.split(", "))       # ['Hello','World!']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804672"/>
            <a:ext cx="320040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8046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&amp; METHODS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4663440" y="1097280"/>
          <a:ext cx="4224528" cy="32759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upper() / lower()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Convert to ALL CAPS or lowercase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strip()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leading &amp; trailing whitespace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lstrip() / rstrip()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left-only / right-only whitespace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split(sep)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Split on separator → returns a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join(iterable)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Join list items into one string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replace(old, new)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Replace every occurrence of old with new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find(sub)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Index of first match; -1 if not found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index(sub)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Like find() but raises ValueError if absent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startswith(prefix)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if string begins with prefix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endswith(suffix)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if string ends with suffix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count(sub)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Count non-overlapping occurrences of sub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format() / f-str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Embed variables &amp; expressions into string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len(s)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Total number of characters in string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63440" y="4425696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63440" y="4425696"/>
            <a:ext cx="64008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4453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string-examples.py</a:t>
            </a:r>
            <a:endParaRPr lang="en-US" sz="1100" dirty="0"/>
          </a:p>
        </p:txBody>
      </p:sp>
      <p:sp>
        <p:nvSpPr>
          <p:cNvPr id="38" name="Text 35">
            <a:hlinkClick r:id="rId3"/>
          </p:cNvPr>
          <p:cNvSpPr/>
          <p:nvPr/>
        </p:nvSpPr>
        <p:spPr>
          <a:xfrm>
            <a:off x="4809744" y="4663440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https://github.com/reachsatyavs/python-tutorials/blob/main/dataTypes/string-examples.py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72"/>
            <a:ext cx="9144000" cy="4160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40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6297"/>
            <a:ext cx="80467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Tuple  (tuple)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52272" y="473933"/>
            <a:ext cx="1365245" cy="14069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442284"/>
            <a:ext cx="770250" cy="185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812616"/>
            <a:ext cx="34664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that must NOT change after creation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multiple values from a function cleanly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keys — tuples are hashable, lists are NOT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RGB values, named records (namedtuple)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0480" y="1460709"/>
            <a:ext cx="688607" cy="16006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742" y="1460708"/>
            <a:ext cx="814209" cy="16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" y="1645214"/>
            <a:ext cx="4078224" cy="117120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637" y="1706783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(1, 2, 3)            # standard tuple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(42,)                # single-element — comma is required!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()                   # empty tuple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tuple([1, 2, 3])     # convert list → tuple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(10, 20, 30)   # tuple unpacking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*rest = (1, 2, 3, 4)  # extended unpacking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56032" y="2814797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79641" y="2873945"/>
            <a:ext cx="617395" cy="239054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641" y="2873945"/>
            <a:ext cx="617395" cy="23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20188" y="2873945"/>
            <a:ext cx="617395" cy="239054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20188" y="2873945"/>
            <a:ext cx="617395" cy="23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47765" y="2873945"/>
            <a:ext cx="617395" cy="239054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7765" y="2873945"/>
            <a:ext cx="617395" cy="23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81824" y="2873945"/>
            <a:ext cx="617395" cy="239054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1824" y="2873945"/>
            <a:ext cx="617395" cy="23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22371" y="2873945"/>
            <a:ext cx="617395" cy="239054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2371" y="2873945"/>
            <a:ext cx="617395" cy="23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Hashable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4489" y="3418236"/>
            <a:ext cx="4123619" cy="153100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3803" y="3447288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('Alice', 30, 'London')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age, city = t     # unpack all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print(name, age)        # Alice  30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print(t[0])             # Alice  (index)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print('Alice' in t)     # True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 dict key (list raises TypeError!)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{(51.5, -0.1): 'London'}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5, 10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y, x             # swap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print(x, y)             # 10  5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462272" y="473933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6955" y="467448"/>
            <a:ext cx="3200400" cy="246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6955" y="46744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&amp; METHODS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4645152" y="780709"/>
          <a:ext cx="4224528" cy="34366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times x appears in the tuple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Index of first occurrence of 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elements in the tuple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max(t) / min(t)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Largest / smallest element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Sum of all numeric elements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Returns a new sorted list (not a tuple)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tuple(iterable)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Convert any iterable → tuple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zip(a, b)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Pair elements from two iterables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a, b = 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Unpack tuple into named variables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a, *rest = 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Extended unpack — rest becomes a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 + t2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Concatenate two tuples → new tuple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* 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Repeat tuple n times → new tuple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in 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/ False membership test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8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namedtuple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Tuple with named fields (collections)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54298" y="4308769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4115" y="43525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tuple-example.py</a:t>
            </a:r>
            <a:endParaRPr lang="en-US" sz="1100" dirty="0"/>
          </a:p>
        </p:txBody>
      </p:sp>
      <p:sp>
        <p:nvSpPr>
          <p:cNvPr id="38" name="Text 35">
            <a:hlinkClick r:id="rId3"/>
          </p:cNvPr>
          <p:cNvSpPr/>
          <p:nvPr/>
        </p:nvSpPr>
        <p:spPr>
          <a:xfrm>
            <a:off x="4794115" y="4568401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https://github.com/reachsatyavs/python-tutorials/blob/main/dataTypes/tuple-example.py</a:t>
            </a:r>
            <a:endParaRPr lang="en-US" sz="75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AABD550F-BAF8-2C06-6BC4-9C05DC11BEAC}"/>
              </a:ext>
            </a:extLst>
          </p:cNvPr>
          <p:cNvSpPr/>
          <p:nvPr/>
        </p:nvSpPr>
        <p:spPr>
          <a:xfrm>
            <a:off x="122999" y="3188669"/>
            <a:ext cx="903283" cy="1948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E0065AD3-A5B2-ACB8-628A-08FCDA4636F1}"/>
              </a:ext>
            </a:extLst>
          </p:cNvPr>
          <p:cNvSpPr/>
          <p:nvPr/>
        </p:nvSpPr>
        <p:spPr>
          <a:xfrm>
            <a:off x="117111" y="3188668"/>
            <a:ext cx="861690" cy="18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85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CE4F93B0-8567-F34D-74B1-AE530A0AF6D3}"/>
              </a:ext>
            </a:extLst>
          </p:cNvPr>
          <p:cNvSpPr/>
          <p:nvPr/>
        </p:nvSpPr>
        <p:spPr>
          <a:xfrm>
            <a:off x="131479" y="2891060"/>
            <a:ext cx="895029" cy="221939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E4AE3E5-70F7-741D-707E-1D692EF6DC4B}"/>
              </a:ext>
            </a:extLst>
          </p:cNvPr>
          <p:cNvSpPr/>
          <p:nvPr/>
        </p:nvSpPr>
        <p:spPr>
          <a:xfrm>
            <a:off x="99742" y="2891059"/>
            <a:ext cx="926540" cy="230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6362" cy="4297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644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 (dict)  — Part 1 of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03504"/>
            <a:ext cx="182880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6035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1168" y="896112"/>
            <a:ext cx="4078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 → value lookups — O(1) average 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structured data (JSON-like records)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/ grouping — frequency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config values, mapping relationships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655064"/>
            <a:ext cx="137160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550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" y="1938528"/>
            <a:ext cx="4078224" cy="95097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029968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{'name':'Alice','age':30} # literal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{}                        # empty dict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dict(name='Alice',age=30) # keyword args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{k:v for k,v in pairs}   # comprehension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d['city'] = 'London'          # add / update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01168" y="2944368"/>
            <a:ext cx="219456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323697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23697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16813" y="323697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13" y="323697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(3.7+)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32458" y="323697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32458" y="323697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Key→Value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48102" y="323697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8102" y="323697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Unique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63747" y="323697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3747" y="323697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Immutable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3529584"/>
            <a:ext cx="182880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35295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3803904"/>
            <a:ext cx="4078224" cy="11521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3895344"/>
            <a:ext cx="3822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{'name':'Alice','age':30}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print(d['name'])           # Alice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print(d.get('city','N/A')) # N/A  (safe)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d['city'] = 'London'       # add key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d.update({'age':31})       # update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d.items():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print(f'{k}: {v}')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462272" y="960120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85216"/>
            <a:ext cx="292608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852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&amp; MODIFYING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8378"/>
              </p:ext>
            </p:extLst>
          </p:nvPr>
        </p:nvGraphicFramePr>
        <p:xfrm>
          <a:off x="4663440" y="877824"/>
          <a:ext cx="4224528" cy="32735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d[key]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Get value; raises KeyError if key missing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d.get(key,default)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Get value; returns default if key absent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d[key] = 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Add a new key or update existing key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d[key]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Delete a key-value pair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d.pop(key)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key and return its value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d.pop(key,default)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key safely; returns default if absent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d.update(other)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Merge other dict in place (overwrites dupes)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d.setdefault(k,v)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Set key only if it doesn't already exist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d.clear()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all items from the dictionary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{**d1, **d2}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Merge two dicts into a new dict (Python 3.5+)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d1 | d2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Merge operator → new dict (Python 3.9+)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d1 |= d2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In-place merge (Python 3.9+)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63440" y="4206240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63440" y="4206240"/>
            <a:ext cx="64008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4233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dist-examples.py</a:t>
            </a:r>
            <a:endParaRPr lang="en-US" sz="1100" dirty="0"/>
          </a:p>
        </p:txBody>
      </p:sp>
      <p:sp>
        <p:nvSpPr>
          <p:cNvPr id="38" name="Text 35">
            <a:hlinkClick r:id="rId3"/>
          </p:cNvPr>
          <p:cNvSpPr/>
          <p:nvPr/>
        </p:nvSpPr>
        <p:spPr>
          <a:xfrm>
            <a:off x="4809744" y="4443984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https://github.com/reachsatyavs/python-tutorials/blob/main/dataTypes/dist-examples.py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31936" cy="47548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0"/>
            <a:ext cx="155374" cy="47548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596104" cy="47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 (dict)  — Part 2 of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475488"/>
            <a:ext cx="274320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4754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 DICTIONARY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23778"/>
              </p:ext>
            </p:extLst>
          </p:nvPr>
        </p:nvGraphicFramePr>
        <p:xfrm>
          <a:off x="201168" y="768097"/>
          <a:ext cx="4078224" cy="266916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d.keys()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View of all keys — iterate or convert to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d.values()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View of all values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d.items()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(key, value) pairs — most common in for loops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k in 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Iterates over keys (same as d.keys())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k,v in d.items()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Most Pythonic way to loop key+value pairs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sorted(d.keys())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Iterate keys in alphabetical order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len(d)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key-value pairs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in 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True/False membership test on KEYS — O(1)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 in d.values()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Membership test on VALUES — O(n)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92024" y="3566160"/>
            <a:ext cx="256032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" y="35661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2024" y="3840480"/>
            <a:ext cx="4078224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93192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['hello','hi','hey']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word → its length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 = {w: len(w) for w in words}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{'hello':5, 'hi':2, 'hey':3}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filter: keep only values &gt; 2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= {k:v for k,v in lens.items() if v&gt;2}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4407407" y="475488"/>
            <a:ext cx="45719" cy="45171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4296" y="502920"/>
            <a:ext cx="237744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96" y="5029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</a:t>
            </a:r>
            <a:endParaRPr lang="en-US" sz="85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72110"/>
              </p:ext>
            </p:extLst>
          </p:nvPr>
        </p:nvGraphicFramePr>
        <p:xfrm>
          <a:off x="4654296" y="795528"/>
          <a:ext cx="4187952" cy="1289305"/>
        </p:xfrm>
        <a:graphic>
          <a:graphicData uri="http://schemas.openxmlformats.org/drawingml/2006/table">
            <a:tbl>
              <a:tblPr/>
              <a:tblGrid>
                <a:gridCol w="172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d.copy()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Shallow copy of the dictionary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dict(zip(k,v))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Build dict from two lists (keys &amp; values)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dict.fromkeys(k,v)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Create dict from a list of keys, same value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sorted(d,key=...)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Sort dict items by key or value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654296" y="2231136"/>
            <a:ext cx="393192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54296" y="223113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 — auto-initialise missing keys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654296" y="2505456"/>
            <a:ext cx="4233672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82312" y="2596896"/>
            <a:ext cx="3968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defaultdict(list)   # default value = []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d['fruits'].append('apple')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d['fruits'].append('mango')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d['vegs'].append('carrot')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print(dict(d))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{'fruits':['apple','mango'],'vegs':['carrot']}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4663440" y="3767328"/>
            <a:ext cx="3931920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63440" y="37673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— count occurrences automatically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4041648"/>
            <a:ext cx="4224528" cy="9418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91456" y="413308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['hi','bye','hi','hi','bye']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Counter(words)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print(c)            # Counter({'hi':3,'bye':2})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print(c.most_common(1))  # [('hi', 3)]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485632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2741" cy="4846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4673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(list)  — Part 1 of 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6788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530352"/>
            <a:ext cx="182880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5303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822960"/>
            <a:ext cx="4078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collections that need to grow or shrink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indexing, slicing, or sorting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sequence of items of any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general-purpose collection in 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581912"/>
            <a:ext cx="137160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819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865376"/>
            <a:ext cx="4078224" cy="95097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95681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 2, 3]           # integers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['a', 'b', 'c']     # strings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 'hi', True, 3.14]# mixed types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[]                   # empty list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list(range(5))       # [0, 1, 2, 3, 4]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[x**2 for x in range(5)] # comprehension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219456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8712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3163824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63824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44245" y="3163824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4245" y="3163824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9890" y="3163824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59890" y="3163824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75534" y="3163824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5534" y="3163824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91179" y="3163824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1179" y="3163824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Duplicates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456432"/>
            <a:ext cx="182880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564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730752"/>
            <a:ext cx="4014216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3822192"/>
            <a:ext cx="3822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[3, 1, 4, 1, 5, 9]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print(lst[0])       # 3  (index)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print(lst[-1])      # 9  (last)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print(lst[1:4])     # [1, 4, 1]  (slice)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lst.append(2)       # add to end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lst.remove(1)       # remove first 1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lst.sort()          # sort in place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434839" y="530352"/>
            <a:ext cx="45719" cy="43708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30352"/>
            <a:ext cx="237744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30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METHODS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16554"/>
              </p:ext>
            </p:extLst>
          </p:nvPr>
        </p:nvGraphicFramePr>
        <p:xfrm>
          <a:off x="4654296" y="817301"/>
          <a:ext cx="4206240" cy="3482340"/>
        </p:xfrm>
        <a:graphic>
          <a:graphicData uri="http://schemas.openxmlformats.org/drawingml/2006/table">
            <a:tbl>
              <a:tblPr/>
              <a:tblGrid>
                <a:gridCol w="1729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2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Add x to the END of the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extend(iterable)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Add ALL items from iterable to the end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insert(i, 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Insert x BEFORE element at index i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FIRST occurrence of x; ValueError if absent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pop(i=-1)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&amp; return element at index i (default: last)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ALL elements — list becomes []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Index of FIRST occurrence of x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times x appears in the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sort(reverse=False)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Sort list IN PLACE; reverse=True for descending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reverse()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Reverse list IN PLACE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 a SHALLOW copy of the list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elements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in lst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True/False membership test — O(n)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63440" y="4389120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63440" y="4389120"/>
            <a:ext cx="6400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44165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list-example.py</a:t>
            </a:r>
            <a:endParaRPr lang="en-US" sz="1100" dirty="0"/>
          </a:p>
        </p:txBody>
      </p:sp>
      <p:sp>
        <p:nvSpPr>
          <p:cNvPr id="38" name="Text 35">
            <a:hlinkClick r:id="rId3"/>
          </p:cNvPr>
          <p:cNvSpPr/>
          <p:nvPr/>
        </p:nvSpPr>
        <p:spPr>
          <a:xfrm>
            <a:off x="4809744" y="4626864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https://github.com/reachsatyavs/python-tutorials/blob/main/dataTypes/list-example.py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15400" cy="42062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0477" cy="33375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84555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(list)  — Part 2 of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7744" y="457200"/>
            <a:ext cx="365760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4572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 —  lst[start : stop : step]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" y="731520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731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lst[1:4]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36192" y="73152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at index 1, 2, 3  (stop is exclusive)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" y="1133856"/>
            <a:ext cx="4078224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133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lst[:3]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36192" y="113385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elements  (start defaults to 0)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" y="1536192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lst[2:]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36192" y="153619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 2 to the 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" y="1938528"/>
            <a:ext cx="4078224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938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lst[-3:]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36192" y="193852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elements  (negative index counts from end)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" y="2340864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340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lst[::2]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36192" y="2340864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element  (step=2)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" y="2743200"/>
            <a:ext cx="4078224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lst[::-1]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36192" y="27432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entire list  (step=-1)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" y="3145536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lst[1:7:2]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36192" y="314553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at index 1, 3, 5  (start:stop:step)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575304"/>
            <a:ext cx="237744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5753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PATTERNS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849624"/>
            <a:ext cx="4078224" cy="10149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941064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lst.sort()                   # in-place ascending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lst.sort(reverse=True)       # in-place descending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= sorted(lst)            # new list, original safe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key (e.g. string length)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words.sort(key=len)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people.sort(key=lambda p: p['age'])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73152"/>
            <a:ext cx="274320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731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47472"/>
            <a:ext cx="4224528" cy="18105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438912"/>
            <a:ext cx="39684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— square every number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[x**2 for x in range(6)]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16, 25]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filter — even numbers only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[x for x in range(10) if x%2==0]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2, 4, 6, 8]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— flatten 2D list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[[1,2],[3,4],[5,6]]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= [n for row in matrix for n in row]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4, 5, 6]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194560"/>
            <a:ext cx="3474720" cy="246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19456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BUILT-IN FUNCTIONS ON LISTS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174694"/>
              </p:ext>
            </p:extLst>
          </p:nvPr>
        </p:nvGraphicFramePr>
        <p:xfrm>
          <a:off x="4663440" y="2450593"/>
          <a:ext cx="4251960" cy="2522220"/>
        </p:xfrm>
        <a:graphic>
          <a:graphicData uri="http://schemas.openxmlformats.org/drawingml/2006/table">
            <a:tbl>
              <a:tblPr/>
              <a:tblGrid>
                <a:gridCol w="1748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Function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 new sorted list; original unchanged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reversed(lst)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 reverse iterator (use list() to convert)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Sum of all numeric elements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max(lst) / min(lst)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Largest / smallest element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zip(lst1, lst2)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Pair elements → iterator of tuples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enumerate(lst)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Yield (index, value) pairs for each element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filter(fn, 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 items where fn(item) is True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map(fn, 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Apply fn to every item; return iterator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any(lst)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if at least one element is truthy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all(lst)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if every element is truthy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525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946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9662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  (set)  — Part 1 of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30104"/>
            <a:ext cx="182880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301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955963"/>
            <a:ext cx="4078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 from any collection instantly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O(1) membership testing — much faster than a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— union, intersection, difference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common or unique elements between two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64791"/>
            <a:ext cx="137160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64791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48255"/>
            <a:ext cx="4078224" cy="95097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39695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2, 3}            # literal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set()                # empty — NOT {} (= dict!)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set([1,2,2,3,3])     # from list  →  {1,2,3}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set("hello")         # from str   →  {'h','e','l','o'}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{x**2 for x in range(5)}  # comprehension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56032" y="3062408"/>
            <a:ext cx="219456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062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335501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35501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71677" y="335501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1677" y="335501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87322" y="335501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7322" y="335501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02966" y="335501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2966" y="335501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18611" y="3355016"/>
            <a:ext cx="751637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8611" y="3355016"/>
            <a:ext cx="75163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Hashable Items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647624"/>
            <a:ext cx="182880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6476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971820"/>
            <a:ext cx="4078224" cy="9659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422" y="3988443"/>
            <a:ext cx="3822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{1, 2, 3, 4}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s.add(5)             # {1,2,3,4,5}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s.discard(10)        # no error if absent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 in s)        # True — O(1)!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[1,2,2,3,3,4]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print(list(set(lst)))# [1,2,3,4] dedup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630105"/>
            <a:ext cx="292608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630105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 ·  REMOVING  ·  TESTING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872006"/>
              </p:ext>
            </p:extLst>
          </p:nvPr>
        </p:nvGraphicFramePr>
        <p:xfrm>
          <a:off x="4663440" y="931857"/>
          <a:ext cx="4224528" cy="327594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 / Operation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What it does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Add element x; ignored if already present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x; raises KeyError if not found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discard(x)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x safely; NO error if x is absent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&amp; return an arbitrary element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Remove ALL elements — set becomes empty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in 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True/False membership test — O(1) average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not in 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True if x is NOT a member of the 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len(s)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Number of elements in the 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Return a shallow copy of the 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update(iterable)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Add all items from iterable to 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|= other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In-place union — add all from other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-= other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In-place difference — remove items in other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8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&amp;= other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In-place intersection — keep shared only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63440" y="4359192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63440" y="4359192"/>
            <a:ext cx="64008" cy="4754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43866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set-examples.py</a:t>
            </a:r>
            <a:endParaRPr lang="en-US" sz="1100" dirty="0"/>
          </a:p>
        </p:txBody>
      </p:sp>
      <p:sp>
        <p:nvSpPr>
          <p:cNvPr id="38" name="Text 35">
            <a:hlinkClick r:id="rId3"/>
          </p:cNvPr>
          <p:cNvSpPr/>
          <p:nvPr/>
        </p:nvSpPr>
        <p:spPr>
          <a:xfrm>
            <a:off x="4809744" y="4596936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https://github.com/reachsatyavs/python-tutorials/blob/main/dataTypes/set-examples.py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22634" cy="3520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407" cy="3520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93991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  (set)  — Part 2 of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5009250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Data Types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14467" y="563603"/>
            <a:ext cx="402336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467" y="563603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— operator  &amp;  method equivalents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852632"/>
              </p:ext>
            </p:extLst>
          </p:nvPr>
        </p:nvGraphicFramePr>
        <p:xfrm>
          <a:off x="214466" y="856211"/>
          <a:ext cx="4119790" cy="2836192"/>
        </p:xfrm>
        <a:graphic>
          <a:graphicData uri="http://schemas.openxmlformats.org/drawingml/2006/table">
            <a:tbl>
              <a:tblPr/>
              <a:tblGrid>
                <a:gridCol w="92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8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Operation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Operator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Returns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Union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|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a.union(b)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All elements from both sets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Intersection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&amp;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a.intersection(b)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Elements in BOTH sets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8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Difference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-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a.difference(b)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In a but NOT in b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Sym. Difference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^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a.symmetric_difference(b)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In either but NOT both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8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Subset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&lt;=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a.issubset(b)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True if every a ∈ b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Proper Subset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&lt;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True if a ⊂ b  and  a ≠ b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8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Superset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&gt;= 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a.issuperset(b)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True if b ⊆ a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BD5E1"/>
                          </a:solidFill>
                        </a:rPr>
                        <a:t>Disjoint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a.isdisjoint(b)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True if a ∩ b = ∅  (no shared)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14467" y="3768992"/>
            <a:ext cx="164592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467" y="3768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4467" y="4076564"/>
            <a:ext cx="4074069" cy="86119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483" y="413475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a={1,2,3,4}; b={3,4,5,6}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print(a|b)  # {1,2,3,4,5,6} union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print(a&amp;b)  # {3,4}  intersection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print(a-b)  # {1,2}  difference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print(a^b)  # {1,2,5,6} sym diff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06403"/>
            <a:ext cx="329184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106403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— immutable, hashable set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380723"/>
            <a:ext cx="4178808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14149" y="472163"/>
            <a:ext cx="404580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frozenset({1, 2, 3})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Immutable → hashable → usable as dict key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{frozenset({1,2}): "a pair"}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nested_set = {frozenset({1,2}), frozenset({3,4})}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read operations still work: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 in fs)         #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print(fs | {4,5})      # frozenset({1,2,3,4,5})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 mutation is blocked: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fs.add(4)  →  AttributeError!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63440" y="2079844"/>
            <a:ext cx="237744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0798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COMPREHENSION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2354164"/>
            <a:ext cx="4206240" cy="109561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91456" y="2445604"/>
            <a:ext cx="3968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Unique squares — negatives collapse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 = {x**2 for x in range(-3, 4)}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{0, 1, 4, 9}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Unique first letters from a word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['apple','avocado','banana','berry']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initials = {w[0] for w in words}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{'a', 'b'}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63440" y="3499657"/>
            <a:ext cx="237744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3499657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PATTERNS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663439" y="3773976"/>
            <a:ext cx="4266094" cy="121740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91456" y="3865417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Deduplicate a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list(set([1,2,2,3,3]))  # [1,2,3]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Fast membership check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= {'admin','editor','viewer'}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user_role in valid: ...       # O(1)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Common elements between two lists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= set([1,2,3]) &amp; set([2,3,4])  # {2,3}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4609</Words>
  <Application>Microsoft Macintosh PowerPoint</Application>
  <PresentationFormat>On-screen Show (16:9)</PresentationFormat>
  <Paragraphs>767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Types</dc:title>
  <dc:subject>PptxGenJS Presentation</dc:subject>
  <dc:creator>Python Tutorials</dc:creator>
  <cp:lastModifiedBy>Prasad VSV</cp:lastModifiedBy>
  <cp:revision>25</cp:revision>
  <dcterms:created xsi:type="dcterms:W3CDTF">2026-04-06T10:10:48Z</dcterms:created>
  <dcterms:modified xsi:type="dcterms:W3CDTF">2026-04-07T00:42:23Z</dcterms:modified>
</cp:coreProperties>
</file>